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080502a4ad452c" /><Relationship Type="http://schemas.openxmlformats.org/officeDocument/2006/relationships/extended-properties" Target="/docProps/app.xml" Id="R4efdbd410fd94add" /><Relationship Type="http://schemas.openxmlformats.org/officeDocument/2006/relationships/officeDocument" Target="/ppt/presentation.xml" Id="R23f97af49ab448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dc9b4fdb294fc4"/>
  </p:sldMasterIdLst>
  <p:notesMasterIdLst>
    <p:notesMasterId xmlns:r="http://schemas.openxmlformats.org/officeDocument/2006/relationships" r:id="R5a4ba678ebe3403a"/>
  </p:notesMasterIdLst>
  <p:sldIdLst>
    <p:sldId xmlns:r="http://schemas.openxmlformats.org/officeDocument/2006/relationships" id="256" r:id="R07956977d2cc46f3"/>
    <p:sldId xmlns:r="http://schemas.openxmlformats.org/officeDocument/2006/relationships" id="257" r:id="R10c261e59003444a"/>
    <p:sldId xmlns:r="http://schemas.openxmlformats.org/officeDocument/2006/relationships" id="258" r:id="R596eb67f36754c93"/>
    <p:sldId xmlns:r="http://schemas.openxmlformats.org/officeDocument/2006/relationships" id="259" r:id="R3a6bb9ef961c4841"/>
    <p:sldId xmlns:r="http://schemas.openxmlformats.org/officeDocument/2006/relationships" id="260" r:id="R93cb4f6fc0824339"/>
    <p:sldId xmlns:r="http://schemas.openxmlformats.org/officeDocument/2006/relationships" id="261" r:id="Raa59fe23bb284d41"/>
    <p:sldId xmlns:r="http://schemas.openxmlformats.org/officeDocument/2006/relationships" id="262" r:id="R1d93334974274d99"/>
    <p:sldId xmlns:r="http://schemas.openxmlformats.org/officeDocument/2006/relationships" id="263" r:id="R65e8c17d5b1b4fb1"/>
    <p:sldId xmlns:r="http://schemas.openxmlformats.org/officeDocument/2006/relationships" id="264" r:id="R8f4fd479915e472e"/>
    <p:sldId xmlns:r="http://schemas.openxmlformats.org/officeDocument/2006/relationships" id="265" r:id="R23e09be2b7264e29"/>
    <p:sldId xmlns:r="http://schemas.openxmlformats.org/officeDocument/2006/relationships" id="266" r:id="Rc11ef7f18067463f"/>
    <p:sldId xmlns:r="http://schemas.openxmlformats.org/officeDocument/2006/relationships" id="267" r:id="R47004c2ed14b4d2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f9464f75d24809" /><Relationship Type="http://schemas.openxmlformats.org/officeDocument/2006/relationships/slideMaster" Target="/ppt/slideMasters/slideMaster1.xml" Id="R1cdc9b4fdb294fc4" /><Relationship Type="http://schemas.openxmlformats.org/officeDocument/2006/relationships/notesMaster" Target="/ppt/notesMasters/notesMaster1.xml" Id="R5a4ba678ebe3403a" /><Relationship Type="http://schemas.openxmlformats.org/officeDocument/2006/relationships/presProps" Target="/ppt/presProps.xml" Id="R363fa453fdf94622" /><Relationship Type="http://schemas.openxmlformats.org/officeDocument/2006/relationships/viewProps" Target="/ppt/viewProps.xml" Id="R2ef8aecd55d649b9" /><Relationship Type="http://schemas.openxmlformats.org/officeDocument/2006/relationships/tableStyles" Target="/ppt/tableStyles.xml" Id="R5257edab2516401b" /><Relationship Type="http://schemas.openxmlformats.org/officeDocument/2006/relationships/slide" Target="/ppt/slides/slide1.xml" Id="R07956977d2cc46f3" /><Relationship Type="http://schemas.openxmlformats.org/officeDocument/2006/relationships/slide" Target="/ppt/slides/slide2.xml" Id="R10c261e59003444a" /><Relationship Type="http://schemas.openxmlformats.org/officeDocument/2006/relationships/slide" Target="/ppt/slides/slide3.xml" Id="R596eb67f36754c93" /><Relationship Type="http://schemas.openxmlformats.org/officeDocument/2006/relationships/slide" Target="/ppt/slides/slide4.xml" Id="R3a6bb9ef961c4841" /><Relationship Type="http://schemas.openxmlformats.org/officeDocument/2006/relationships/slide" Target="/ppt/slides/slide5.xml" Id="R93cb4f6fc0824339" /><Relationship Type="http://schemas.openxmlformats.org/officeDocument/2006/relationships/slide" Target="/ppt/slides/slide6.xml" Id="Raa59fe23bb284d41" /><Relationship Type="http://schemas.openxmlformats.org/officeDocument/2006/relationships/slide" Target="/ppt/slides/slide7.xml" Id="R1d93334974274d99" /><Relationship Type="http://schemas.openxmlformats.org/officeDocument/2006/relationships/slide" Target="/ppt/slides/slide8.xml" Id="R65e8c17d5b1b4fb1" /><Relationship Type="http://schemas.openxmlformats.org/officeDocument/2006/relationships/slide" Target="/ppt/slides/slide9.xml" Id="R8f4fd479915e472e" /><Relationship Type="http://schemas.openxmlformats.org/officeDocument/2006/relationships/slide" Target="/ppt/slides/slide10.xml" Id="R23e09be2b7264e29" /><Relationship Type="http://schemas.openxmlformats.org/officeDocument/2006/relationships/slide" Target="/ppt/slides/slide11.xml" Id="Rc11ef7f18067463f" /><Relationship Type="http://schemas.openxmlformats.org/officeDocument/2006/relationships/slide" Target="/ppt/slides/slide12.xml" Id="R47004c2ed14b4d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9c8a19942144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a7b4fb35f34ca3" /><Relationship Type="http://schemas.openxmlformats.org/officeDocument/2006/relationships/notesMaster" Target="/ppt/notesMasters/notesMaster1.xml" Id="R66e004757a5f41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94de1057a141b9" /><Relationship Type="http://schemas.openxmlformats.org/officeDocument/2006/relationships/notesMaster" Target="/ppt/notesMasters/notesMaster1.xml" Id="R71c75e96289a41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7245ea8c034f20" /><Relationship Type="http://schemas.openxmlformats.org/officeDocument/2006/relationships/notesMaster" Target="/ppt/notesMasters/notesMaster1.xml" Id="R6f82b9c01e1541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afc1b6657c48e7" /><Relationship Type="http://schemas.openxmlformats.org/officeDocument/2006/relationships/notesMaster" Target="/ppt/notesMasters/notesMaster1.xml" Id="R5bbf3ba9a13b40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33de511f6144fc" /><Relationship Type="http://schemas.openxmlformats.org/officeDocument/2006/relationships/notesMaster" Target="/ppt/notesMasters/notesMaster1.xml" Id="R0ff2185cae624b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4226002ca74544" /><Relationship Type="http://schemas.openxmlformats.org/officeDocument/2006/relationships/notesMaster" Target="/ppt/notesMasters/notesMaster1.xml" Id="R5d42c2caa12b40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39be12e4af4b6c" /><Relationship Type="http://schemas.openxmlformats.org/officeDocument/2006/relationships/notesMaster" Target="/ppt/notesMasters/notesMaster1.xml" Id="R787c95076c624b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61ef6154d3424e" /><Relationship Type="http://schemas.openxmlformats.org/officeDocument/2006/relationships/notesMaster" Target="/ppt/notesMasters/notesMaster1.xml" Id="Rd09d0ddef9144e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e60147c8ba4ed0" /><Relationship Type="http://schemas.openxmlformats.org/officeDocument/2006/relationships/notesMaster" Target="/ppt/notesMasters/notesMaster1.xml" Id="Rfb624faf551342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1ce230cde24d57" /><Relationship Type="http://schemas.openxmlformats.org/officeDocument/2006/relationships/notesMaster" Target="/ppt/notesMasters/notesMaster1.xml" Id="Rb89e5457bb5646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6f5a9dfb644806" /><Relationship Type="http://schemas.openxmlformats.org/officeDocument/2006/relationships/notesMaster" Target="/ppt/notesMasters/notesMaster1.xml" Id="R11476a3d6dc04e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3385c34c8544b4" /><Relationship Type="http://schemas.openxmlformats.org/officeDocument/2006/relationships/notesMaster" Target="/ppt/notesMasters/notesMaster1.xml" Id="Rb3ba1dce6d334c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ae8b3a990f4e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081f6aaee64913" /><Relationship Type="http://schemas.openxmlformats.org/officeDocument/2006/relationships/slideLayout" Target="/ppt/slideLayouts/slideLayout1.xml" Id="Rdd6bb9e872ff4f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6bb9e872ff4f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c68c01ad8467e" /><Relationship Type="http://schemas.openxmlformats.org/officeDocument/2006/relationships/notesSlide" Target="/ppt/notesSlides/notesSlide1.xml" Id="Rd1ca1bb0ec0a4f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a034347404794" /><Relationship Type="http://schemas.openxmlformats.org/officeDocument/2006/relationships/notesSlide" Target="/ppt/notesSlides/notesSlide2.xml" Id="R515db4e1e8cc44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77dc933de482f" /><Relationship Type="http://schemas.openxmlformats.org/officeDocument/2006/relationships/notesSlide" Target="/ppt/notesSlides/notesSlide3.xml" Id="R9c210c66002d42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1f8b13bc845ea" /><Relationship Type="http://schemas.openxmlformats.org/officeDocument/2006/relationships/notesSlide" Target="/ppt/notesSlides/notesSlide4.xml" Id="Re1fc42e31ef54a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959f3a8e2401a" /><Relationship Type="http://schemas.openxmlformats.org/officeDocument/2006/relationships/notesSlide" Target="/ppt/notesSlides/notesSlide5.xml" Id="R8b724125735b4a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ab09aa95b4d32" /><Relationship Type="http://schemas.openxmlformats.org/officeDocument/2006/relationships/notesSlide" Target="/ppt/notesSlides/notesSlide6.xml" Id="R552450282e5b4c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173a8da484641" /><Relationship Type="http://schemas.openxmlformats.org/officeDocument/2006/relationships/notesSlide" Target="/ppt/notesSlides/notesSlide7.xml" Id="Rb14e8aaa32014a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49e8cef9c48c5" /><Relationship Type="http://schemas.openxmlformats.org/officeDocument/2006/relationships/notesSlide" Target="/ppt/notesSlides/notesSlide8.xml" Id="R274f783e08fb4f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2031b80c54b44" /><Relationship Type="http://schemas.openxmlformats.org/officeDocument/2006/relationships/notesSlide" Target="/ppt/notesSlides/notesSlide9.xml" Id="R3d450f45ddd949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5907579264bf9" /><Relationship Type="http://schemas.openxmlformats.org/officeDocument/2006/relationships/notesSlide" Target="/ppt/notesSlides/notesSlide10.xml" Id="R88e76ce60eac4d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d1adddc9a466b" /><Relationship Type="http://schemas.openxmlformats.org/officeDocument/2006/relationships/notesSlide" Target="/ppt/notesSlides/notesSlide11.xml" Id="R7f148247fcd641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74c2acb9948e0" /><Relationship Type="http://schemas.openxmlformats.org/officeDocument/2006/relationships/notesSlide" Target="/ppt/notesSlides/notesSlide12.xml" Id="R1f0dc7a3aa1d49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A853B5-FEE2-469A-A5FA-A3E6BBEF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18E5E-B2B2-445D-8927-2EDCE91D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6A291-956F-463D-ACDF-3E28D571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4E775-E7E6-4555-BC69-AD205221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695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solidFill>
              <a:srgbClr val="EAF3F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C0BF1-A3B6-4A32-A15A-3EF3AE70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695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IoT Safety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73C0F-7387-48F4-8D5B-38780D7D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62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rPr>
              <a:t>Pico SafeRoom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39D4E-4288-4E98-A3CF-D16979D7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33625"/>
            <a:ext cx="752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Pico 2W 기반 실내 안전 관제 및 사고 대응 추적 시스템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CD29F-8E93-47B6-BB1C-68EF02FE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12467-C030-4C4D-A5B4-3F0E09FD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A8E4B-7728-4A59-B6FE-6E89DF08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78EFE-CCA8-4AA2-8390-0245AD31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4개 공간 장치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센서 이벤트 발행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7D115-5E85-4383-9F27-EC32B597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528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73C7F-7B8C-4F4B-8031-0DB1411E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7528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93DB5-8B32-4F13-BE4F-D91A1DB8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998AF-BD88-4E79-883E-9015DC5B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6242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MQTT 수집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REST/WebSocket 동기화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C39B7-BA49-47A3-A02E-C08B05C6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528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36D92E-1920-4C89-B248-09A8BDBD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528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842"/>
          </a:solidFill>
          <a:ln xmlns:a="http://schemas.openxmlformats.org/drawingml/2006/main" w="0">
            <a:solidFill>
              <a:srgbClr val="D958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024C6-2B39-47B7-9186-55381CB2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052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8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5842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70C2E-9FD3-4420-BC8B-51F64DB3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242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알림, 체크리스트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사고 이력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EEB21-94C3-4B99-8F75-16A57E99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7528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D428D-10DB-4CE3-ABAF-9A3F6DE4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7528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7B2"/>
          </a:solidFill>
          <a:ln xmlns:a="http://schemas.openxmlformats.org/drawingml/2006/main" w="0">
            <a:solidFill>
              <a:srgbClr val="6857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1D0871-D233-4B4E-AD8E-E23E8F91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9052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57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57B2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35758-0C3D-4D84-B266-CF4B5870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162425"/>
            <a:ext cx="2047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LLM 기반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상황 요약 확장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DB591F-837E-4E80-A2AC-41ACF858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43625"/>
            <a:ext cx="695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D89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D8985"/>
                </a:solidFill>
                <a:latin typeface="Aptos"/>
                <a:ea typeface="Aptos"/>
                <a:cs typeface="Aptos"/>
              </a:rPr>
              <a:t>HRD Second Project · Technical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9685407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7BAC87-4408-4072-99E2-DFD3ADB2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FAE7C-C7FA-4F03-8C9E-77335E53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B7A47-D7EF-4E4B-AAE7-31EC0126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31FB5-51C8-496A-A685-8A2FB2A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E30C2-39F7-4BC5-9D4A-032AE575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PROJECT 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85F33-F8E8-4678-A915-3ED964B1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048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rPr>
              <a:t>프로젝트 주제 선정 동기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2DD0F-CC5E-475F-A0E9-A9DBC612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실내 안전 관리는 단순한 현재 상태 표시가 아니라, 이상 징후부터 대응 완료까지의 과정을 남기는 문제입니다.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FB4BE-4303-4BAF-ABE0-6471B21F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293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9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0459F-07B1-491F-A148-EAA93C98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32861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02D68-0350-4B8F-8F05-127A62D7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842"/>
          </a:solidFill>
          <a:ln xmlns:a="http://schemas.openxmlformats.org/drawingml/2006/main" w="0">
            <a:solidFill>
              <a:srgbClr val="D958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BE0440-7164-4445-854D-BF09A262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3000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8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5842"/>
                </a:solidFill>
                <a:latin typeface="Aptos"/>
                <a:ea typeface="Aptos"/>
                <a:cs typeface="Aptos"/>
              </a:rPr>
              <a:t>문제 인식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90C62-26BC-4F9D-B291-D9068FA8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000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센서 화면은 순간 상태를 보여주지만,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실제 안전 관제에는 발생 원인, 알림,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담당자 확인, 조치 이력이 함께 필요합니다.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E11C3-DB9E-4150-9E34-526A78E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43075"/>
            <a:ext cx="32861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335B6-F202-49F0-8094-BC49CF6C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43075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09698-264F-417A-8600-981F9101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95475"/>
            <a:ext cx="3000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선정 이유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8CA5A-B9CD-4AF5-9102-6634B6A5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2650"/>
            <a:ext cx="3000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교실·실습실처럼 여러 공간을 대상으로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저비용 장치와 로컬 서버만으로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상황 추적 구조를 검증할 수 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6C213-3F82-4D08-839E-7F33D430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43075"/>
            <a:ext cx="32861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75682-2D69-4FD6-A5F1-D4FE7414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43075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918076-9D52-4886-AEC7-03F2B7A5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95475"/>
            <a:ext cx="3000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개발 방향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43340-07DE-423E-96FE-076263AF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3000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장치 → 서버 → 화면 → 대응 기록까지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끊기지 않는 흐름을 만드는 것을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프로젝트의 핵심 목표로 잡았습니다.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F05705-6512-4991-800D-CF385A69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4095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발표에서 강조할 관점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B7EFDA-E046-4472-9319-32570D52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4AEDD9-7D67-4F33-BCCE-93002FB2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14800"/>
            <a:ext cx="9667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안전 상태를 숫자 하나가 아니라 이벤트, 임계 판단, 알림, 사고 상태로 연결했습니다.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7C189-1EB6-46B4-BB28-A0266618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61DB8F-A69A-4069-BCD6-CA467055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62475"/>
            <a:ext cx="9667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장치가 잠시 끊겨도 서버와 화면에서 마지막 상태와 프로세스 상태를 확인할 수 있게 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E3ECEA-A8A0-481C-B5BB-5F31FA0D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6A4A85-422D-4D0C-B0CC-297AB686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010150"/>
            <a:ext cx="96678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실제 센서와 시뮬레이터가 같은 데이터 계약을 사용하도록 설계해 개발과 시연 안정성을 확보했습니다.</a:t>
            </a:r>
          </a:p>
        </p:txBody>
      </p:sp>
    </p:spTree>
    <p:extLst>
      <p:ext uri="{BB962C8B-B14F-4D97-AF65-F5344CB8AC3E}">
        <p14:creationId xmlns:p14="http://schemas.microsoft.com/office/powerpoint/2010/main" val="6452663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B79261-60E0-44CF-89D0-73F3DE04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D7D15-CBDC-4896-B4D1-9A210975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DE981-9599-4467-A618-1008F890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4C82B-8100-415C-A6AD-A9B7B3A1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97D64-70F6-4113-A911-B313A610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PROJECT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50F79-B82F-46C1-81AE-0C9456B5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048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rPr>
              <a:t>프로젝트 목표와 개발 범위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934E5-7100-4217-9C80-DA9499DE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하드웨어 이벤트를 수집하고, 서버에서 판단하며, 데스크톱 화면에서 대응까지 이어지는 폐쇄형 로컬 시스템을 구현했습니다.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7A191-1575-46AA-B8AA-B2AA6E8E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293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9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1B972-6C73-4CAA-9875-ED252D6D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0CE45-344D-42FE-8441-98FA4174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894C1-1990-4404-A5AC-309B9652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공간 단위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F860B-7DE6-43C5-A8F8-893DD1F0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240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4개 room_id 기준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장치 상태 추적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C296B-F6F3-40F2-9ED8-7776FB61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145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C2341-5D8E-4CAF-9D73-D47EEDF0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14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A0898-0A42-4030-8DBA-11F53948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66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수집 단위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4270F-2DE8-4A45-9C9E-BAD36EE9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240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센서 이벤트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공통 payload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1C36C-B1AA-4140-89A2-FBD4D294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DACF0-C2A6-46D7-A19F-3233B41E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D895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22594-3F3D-4EE2-B6FC-7A9409B9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5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9533"/>
                </a:solidFill>
                <a:latin typeface="Aptos"/>
                <a:ea typeface="Aptos"/>
                <a:cs typeface="Aptos"/>
              </a:rPr>
              <a:t>판단 단위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BEF86-D2A7-44FF-A4B8-2B8E573E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240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임계치 기반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alert/incident 생성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3516B1-0EBF-44C2-AFD8-4D037E93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8F3003-C199-4C57-B90E-C5784B83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842"/>
          </a:solidFill>
          <a:ln xmlns:a="http://schemas.openxmlformats.org/drawingml/2006/main" w="0">
            <a:solidFill>
              <a:srgbClr val="D958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B8BD75-A24E-4DEE-9ECA-8B3B70B3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66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8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5842"/>
                </a:solidFill>
                <a:latin typeface="Aptos"/>
                <a:ea typeface="Aptos"/>
                <a:cs typeface="Aptos"/>
              </a:rPr>
              <a:t>대응 단위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BDA13-3A2A-470B-A9F1-17DD4C6B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240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체크리스트와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처리 상태 기록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1EE53-3AD0-471D-97C8-92D293CB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3190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개발 범위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9DABCE-5E2A-4BAE-9507-1933ABF3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AFC798-F368-476D-9709-45DC5BB6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81450"/>
            <a:ext cx="466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Pico 2W 펌웨어와 시뮬레이터의 동일 메시지 포맷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7B6604-B0B5-4BCE-843B-BA8AF771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5BBC1-E98E-40EB-A5D2-E3EB53E5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9600"/>
            <a:ext cx="466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MQTT collector, FastAPI backend, SQLite 저장소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31BE08-32FF-4F36-B718-C37E936D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2A1AAA-9DDC-434A-9A8F-92AB4FD3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466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React 대시보드와 Tkinter 운영 화면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6227EB-E430-44DE-8835-D9C30FF1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559134-3F55-4775-902F-D720B9DA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95900"/>
            <a:ext cx="4667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알림 생성, 사고 목록, 대응 체크리스트, 통계 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276AD1-A14D-438E-A158-5F33E7A1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3190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발표 범위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AF6E0D-279E-4595-A87C-7982FB9E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95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0DF782-C7DA-427B-9F51-E75913FD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98145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왜 이 주제를 선택했는가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854815-D111-4143-A7D3-A646531A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D2DF89-3962-43A6-B5DA-C718A854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1960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데이터가 어떤 경로로 흐르는가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13EDB3-DAD6-4BE2-879F-27CCC663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72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A78198-4F87-4FEF-B156-41114CEB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5775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DB와 UI가 어떤 사고 대응 흐름을 지원하는가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C9B2F9-13A6-4972-986D-5890EB02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10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CFCE7F-E786-46D0-81B3-DEF03A52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95900"/>
            <a:ext cx="438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개선 과정과 LLM 확장 방향은 무엇인가</a:t>
            </a:r>
          </a:p>
        </p:txBody>
      </p:sp>
    </p:spTree>
    <p:extLst>
      <p:ext uri="{BB962C8B-B14F-4D97-AF65-F5344CB8AC3E}">
        <p14:creationId xmlns:p14="http://schemas.microsoft.com/office/powerpoint/2010/main" val="21313256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6FB28-0330-4423-819E-0A317D9E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947DC-682B-43A9-9DE2-009B4D99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6ACB8-74E5-4616-A7E3-DA947BC1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73CC6-2E51-4460-BFED-4EF1CD64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2A774-A0F5-4DCE-B889-7EDC1B2D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669DA-71E3-4022-BFFE-B9861C1F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048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rPr>
              <a:t>시스템 아키텍처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2E408-524A-4ADB-AEEE-12B646E2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장치, 수집기, API 서버, UI를 분리해 각 계층의 책임을 명확히 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B205B-83EE-47E2-B528-316E5923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293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9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E4779-F5FC-4FF7-8402-18C38AFB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E8000-B503-4DB2-AC51-31FD922A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52325-F2EB-41CA-AEEA-DD3DB5F9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Pico 2W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ED54B-2771-4859-912C-CF5A6471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room-101 ~ room-104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센서 읽기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상태 LED 제어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9DFA6-E6C4-435A-AC3D-C7DECDB5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62125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F6493-6381-42CE-AC2E-283D7D6A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62125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62727-B970-4947-B781-7B9A0A50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95475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MQTT Broker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B11D2-D7D1-452E-8CA3-F2BB4EA4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pico/+/sensor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pico/+/status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pub/sub 중계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CDAA8-0496-4466-9120-50F74865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CD695-2E37-46D4-A76F-015BC3F4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D895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F9645-9EE2-4C49-979F-A338C331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95475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95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533"/>
                </a:solidFill>
                <a:latin typeface="Aptos"/>
                <a:ea typeface="Aptos"/>
                <a:cs typeface="Aptos"/>
              </a:rPr>
              <a:t>Collector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C404D-D5BC-4ECD-A75E-FF3B73EA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payload 검증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DB 이벤트 저장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API 호출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DF875E-3049-4EC4-9F08-0348CDE7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2CB7E-B842-4C18-BF39-186CB667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5"/>
          </a:solidFill>
          <a:ln xmlns:a="http://schemas.openxmlformats.org/drawingml/2006/main" w="0">
            <a:solidFill>
              <a:srgbClr val="4E8D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AF2A5F-0C10-4351-B6C3-2C070EBF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95475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8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E8D55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776DA9-B3FE-459C-9F21-E7CD426C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1866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SQLite repository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WebSocket broadcast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7B81E1-29A7-43D2-AC2E-8583BEE6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195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D60750-844A-4DC8-A267-F229D042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195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7B2"/>
          </a:solidFill>
          <a:ln xmlns:a="http://schemas.openxmlformats.org/drawingml/2006/main" w="0">
            <a:solidFill>
              <a:srgbClr val="6857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B387E-C18B-4624-A5F0-8620882B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1529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57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857B2"/>
                </a:solidFill>
                <a:latin typeface="Aptos"/>
                <a:ea typeface="Aptos"/>
                <a:cs typeface="Aptos"/>
              </a:rPr>
              <a:t>Desktop App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F72C6-1718-402A-9297-B2038A4A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429125"/>
            <a:ext cx="2247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Tkinter 운영 화면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수동 알림 생성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프로세스 모니터링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5FA87C-BD2D-4F8D-AFB6-8FBA5C93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195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1DE915-975A-4B9A-991F-62AD1CF1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195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842"/>
          </a:solidFill>
          <a:ln xmlns:a="http://schemas.openxmlformats.org/drawingml/2006/main" w="0">
            <a:solidFill>
              <a:srgbClr val="D958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F470DD-525E-43E7-90B2-6B48F8A3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529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8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5842"/>
                </a:solidFill>
                <a:latin typeface="Aptos"/>
                <a:ea typeface="Aptos"/>
                <a:cs typeface="Aptos"/>
              </a:rPr>
              <a:t>React Dashboard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0FBB22-5128-477F-ADDA-D1B1F4CD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29125"/>
            <a:ext cx="2247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방별 카드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사고 패널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통계/그래프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4FAA43-48E3-47E3-95C6-48E3B242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95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13A208-CAC2-44B9-8B7A-143A8F11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95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12E"/>
          </a:solidFill>
          <a:ln xmlns:a="http://schemas.openxmlformats.org/drawingml/2006/main" w="0">
            <a:solidFill>
              <a:srgbClr val="1221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B15739-B171-45C6-8028-A3D1A52B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1529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Simulator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35D9E4-F844-43CD-BD4E-4980D95C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429125"/>
            <a:ext cx="2247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실제 장치 없이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동일 schema로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시연 데이터 생성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071295-5EE3-4738-88AC-1E84BF01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4312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BAA733-14AF-4632-93EA-09BFEEFF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4312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167B35-73A1-43D4-878C-154E7CAB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197D80-8663-478B-AF85-AABF259C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480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690560-8C0F-4CB8-8C05-6ECC9B06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76349F-843D-4C6B-B8B4-1C1F5886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^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99E3D7-5B6B-461E-BF5D-7925B43B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핵심 설계 기준: 장치 상태와 사용자 대응 기록을 같은 시스템 안에서 추적하고 재현할 수 있어야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0002672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4B6169-E547-4A4E-8867-21E06112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485EC-4527-4FC2-94FB-03A38679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4F49F-14E9-4A3A-B1AB-00980BB3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F6A92-B516-466D-BBF8-EFB82E98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03610-0E83-4EC6-B5AE-868D125D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D1484-0C7A-4763-B0F4-A65F5D2E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048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rPr>
              <a:t>하드웨어 구성 및 배선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8CA4A-0614-4277-B914-506CDFA4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Pico 2W를 중심으로 환경·움직임·밝기 데이터를 수집하고, LED와 부저로 현장 상태를 표현합니다.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B3DBB-B898-481D-83E8-7C2FC999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293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9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E5416-E3F8-4F42-837F-2AD6EF55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809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9BE19-262A-47B2-B1E6-F9E657C8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부품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99617B-51D0-4752-ABA0-94E46A51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76400"/>
            <a:ext cx="495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695D3-E24F-4357-875C-BC34DE19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743075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역할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D9607-7F8D-4955-8B20-EAA9FD6A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3381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9FA7D-AC9D-4B8C-B33F-97D5E75F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43075"/>
            <a:ext cx="3228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배선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571DA-47B5-4609-A07F-848B123F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BE187-F417-426C-A92C-58D1680C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Pico 2W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10312-4ACA-4F8A-82CB-3EF0680C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8597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DD872-CB3F-4D6C-B643-E2624FA5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0027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Wi-Fi 연결, 센서 읽기, MQTT 발행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10C132-DB37-4698-98C7-064098D3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85975"/>
            <a:ext cx="3381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B6E2D-EA97-431E-9779-7D0E62DB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0275"/>
            <a:ext cx="3190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3.3V / GND / GPIO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CD6CD4-71D6-44D9-83FC-23D70F5C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765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2BFDBA-1B1A-4E21-A9F5-DC1A8255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DHT11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A9DF2-4F56-494B-B265-8E36AF7E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7652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D9868-8FFB-45A3-8951-93A71CFC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9082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온도와 습도 측정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4301C-60C3-4FF9-8863-4B84F2B6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3381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D42AA9-8A53-4197-A284-6B28E101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90825"/>
            <a:ext cx="3190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VCC, GND, DATA → GPIO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FE8141-7EF9-4737-9D04-36F1A3F9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F5F81E-7DC8-446F-982A-EA434F8F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PIR Sensor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B13D81-A210-4945-BD47-CFE2333C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6707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F98D9-CBBE-4812-9DD0-4F0DE8D7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8137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움직임 감지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CE5B8E-E4CD-41F0-B4F9-D352FE6F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67075"/>
            <a:ext cx="3381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F38465-E8AC-437B-A971-EE7E44ED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3190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OUT → GPIO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0DD6EB-842A-4820-9A49-74B2C681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C32D6F-AFC0-413D-AD28-238164F1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LDR Module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B40A42-E0C1-4D44-B9B1-50CBB44B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5762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2B4CBB-A900-4149-9731-628E8012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7192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밝기 상태 측정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38101D-C464-4D65-84F5-3EA60707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57625"/>
            <a:ext cx="3381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5BF495-926A-4832-B0E1-43A2AF16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71925"/>
            <a:ext cx="3190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AO/DO → ADC 또는 GPIO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346A68-D32F-4BA0-875E-EA0991F3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481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B8BA65-8AFF-4C86-85D6-83679823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LED / Buzzer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783C82-07FE-40B9-8EC0-2E6616B0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48175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EE5677-869D-4A98-BA56-5EEA1242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6247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정상·주의·경고 상태 표시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DA3B6E-F34D-4559-AFC3-963B316A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48175"/>
            <a:ext cx="3381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C28885-9264-4529-A4A7-BA47236C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62475"/>
            <a:ext cx="3190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GPIO 출력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628BC5-6A29-49E5-86B5-7718BA8D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9D8"/>
          </a:solidFill>
          <a:ln xmlns:a="http://schemas.openxmlformats.org/drawingml/2006/main" w="0">
            <a:solidFill>
              <a:srgbClr val="F4E9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C6DFD6-DB6A-4FD0-9A4D-0FCCD2D7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895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9533"/>
                </a:solidFill>
                <a:latin typeface="Aptos"/>
                <a:ea typeface="Aptos"/>
                <a:cs typeface="Aptos"/>
              </a:rPr>
              <a:t>배선 설명 포인트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950786-C618-4112-B52A-7D44808D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91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A0B92F-44EE-4EE9-9432-B6272933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7692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전원은 3.3V 기준으로 맞추고, 모든 모듈의 GND를 공통 접지로 연결했습니다.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D78F2D-7316-42EB-8138-D15612AE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15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28C370-ED96-43D8-8EA2-3FAB7224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0077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센서 입력 GPIO와 출력 GPIO를 분리해 읽기 루프와 상태 표시가 서로 영향을 주지 않게 구성했습니다.</a:t>
            </a:r>
          </a:p>
        </p:txBody>
      </p:sp>
    </p:spTree>
    <p:extLst>
      <p:ext uri="{BB962C8B-B14F-4D97-AF65-F5344CB8AC3E}">
        <p14:creationId xmlns:p14="http://schemas.microsoft.com/office/powerpoint/2010/main" val="10749609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B3D568-8172-442E-AE6E-7072EC1E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DE51E-B2CA-4D1F-BDC0-03456666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477E0-22F5-41D9-B1FD-374A7DC4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B5D37-044A-427B-B221-4A0B5D78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1D561-308D-4458-9F19-9A4287B0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DATA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46776-F64A-4504-BD92-0213820D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048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rPr>
              <a:t>데이터 수집 및 검증 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D9026-7A0B-44E6-9AD0-E4DFFF74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장치와 시뮬레이터가 같은 payload 구조를 사용하고, collector가 저장 전 필드를 검증합니다.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318E5-C60C-4B4E-BF30-E4B62B9B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293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9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FA5B9-F950-4598-B1C6-08604CA3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381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9FC26-C19B-443F-BE56-BFC9306B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512EC-4DDC-41B7-B618-AACBD869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MQTT Topic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F57AC-186A-4D37-924A-F0D25057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152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pico/{device_id}/sensor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pico/{device_id}/status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DB2F1-EE8E-4732-9CD5-EEF8FC85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62125"/>
            <a:ext cx="2381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A6B30-F94A-42C1-A669-A2DC7368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6212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70995-AAB8-4B5A-8C57-30054509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954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SensorEvent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0E44D-281A-47C8-AFF8-3999F79A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71700"/>
            <a:ext cx="2152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device_id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room_id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temperature / humidity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motion / light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0D99C-06B6-4F81-82EC-957C6101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62125"/>
            <a:ext cx="2381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52FF0-DBF4-42FD-BCDC-A255059F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6212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D895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A0F3F-7C60-480D-B8F6-B2CC798F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954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95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533"/>
                </a:solidFill>
                <a:latin typeface="Aptos"/>
                <a:ea typeface="Aptos"/>
                <a:cs typeface="Aptos"/>
              </a:rPr>
              <a:t>Collector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671DF1-F9D0-4F33-AF15-B07D32EB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71700"/>
            <a:ext cx="2152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required fields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numeric type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room mapping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received_at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0D2B8-9857-43E1-B340-83E42653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62125"/>
            <a:ext cx="1619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546F05-50F7-46B1-BC43-BB2FBD5F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62125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5"/>
          </a:solidFill>
          <a:ln xmlns:a="http://schemas.openxmlformats.org/drawingml/2006/main" w="0">
            <a:solidFill>
              <a:srgbClr val="4E8D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C1E275-B80B-4F8A-989D-2AECCC15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95475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8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E8D55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CF0611-E154-47D2-95D9-7EB9665C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71700"/>
            <a:ext cx="1390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events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room_status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alerts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E1420-0094-4E8D-B1B9-661E925E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A7104C-B5F4-402C-8C0D-A372C7CB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B33383-D857-4B8E-BCCC-C48C5A45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907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798FF7-91AA-4092-B06B-FE4498D7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데이터 계약에서 해결한 문제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A66FEB-E170-4D92-8248-4DC4330B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5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9D2916-58B8-400C-8AE2-B4DA695D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38625"/>
            <a:ext cx="962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실제 장치와 시뮬레이터의 필드 이름을 맞춰 서버와 UI 코드를 분기 없이 사용할 수 있게 했습니다.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A7D08A-32EB-4F86-A4B2-952E0583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D25C20-0068-4FBA-BE98-F2C3A7ED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67250"/>
            <a:ext cx="962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collector 단계에서 잘못된 room_id나 누락된 필드를 걸러 DB에 신뢰 가능한 이벤트만 저장합니다.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652E4F-3EEC-47E3-A922-CCD24865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0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48DC44-0D92-4696-AFDE-F20650BD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095875"/>
            <a:ext cx="962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상태 메시지와 센서 이벤트를 분리해 장치 생존 여부와 공간 상태를 독립적으로 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8825898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AA6F8C-21A3-4F91-9197-7B9F3356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4F59A-7BE5-4323-A8E6-335E6F0D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D72EA-A46E-453F-B891-13388722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A9415-8A14-477D-AC85-4EAE8FEE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57EB7-C550-4AB6-A4F2-CD16DBDC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45A98-BAA1-456D-8598-DA8CE3E9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048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rPr>
              <a:t>데이터베이스 스키마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4A5F8-59C5-40DD-B1A2-93A71659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이벤트 원본, 현재 상태, 알림과 사고 대응 이력을 분리해 조회 목적에 맞게 저장합니다.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5F721-D4C3-42A9-B2A3-A82FD1EC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293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9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851FE-BA66-420B-907A-557BDC25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F8282-802C-4ABD-BE66-2D5DAD65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84905-423C-4474-ACC9-D2FE05ED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288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sensor_events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BCB3B-2F9B-4CC6-9383-394BD483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05025"/>
            <a:ext cx="2057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id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received_at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device_id / room_id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temperature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humidity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motion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light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9DAEF-FAF1-42D8-A80E-07F9C4DA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9545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E8E044-8A64-422D-B90A-D162064E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954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0339E7-8F57-4E77-A724-7D400A64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288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room_status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75DEE-BCF3-4A71-A1E9-01B399F1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05025"/>
            <a:ext cx="2057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room_id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last_event_at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latest values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risk_level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device_online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04391-C9FA-40BF-ABC4-C87C7E17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9545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3ACD2B-3C08-4E90-8A62-633ED543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954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D895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401F89-9F56-4765-BE31-943E07E9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288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95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533"/>
                </a:solidFill>
                <a:latin typeface="Aptos"/>
                <a:ea typeface="Aptos"/>
                <a:cs typeface="Aptos"/>
              </a:rPr>
              <a:t>alerts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D7261-DDA7-40E3-9FC2-905C5520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05025"/>
            <a:ext cx="2057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id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room_id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type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severity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message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created_at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2790A-AE07-45E7-BE0D-2436AA55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95450"/>
            <a:ext cx="2286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1D245-4D23-4DE9-9075-FAC748D9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954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842"/>
          </a:solidFill>
          <a:ln xmlns:a="http://schemas.openxmlformats.org/drawingml/2006/main" w="0">
            <a:solidFill>
              <a:srgbClr val="D958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B69535-B2FA-4CEF-A194-42232BA0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28800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8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5842"/>
                </a:solidFill>
                <a:latin typeface="Aptos"/>
                <a:ea typeface="Aptos"/>
                <a:cs typeface="Aptos"/>
              </a:rPr>
              <a:t>incidents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8451E3-38DE-4132-8E69-905C181C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05025"/>
            <a:ext cx="2057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id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alert_id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status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assigned_to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resolved_at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2E8AB6-6695-47CC-891A-5631991B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67200"/>
            <a:ext cx="2762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DFBD40-3711-4976-800B-E151B6F6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267200"/>
            <a:ext cx="2762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7B2"/>
          </a:solidFill>
          <a:ln xmlns:a="http://schemas.openxmlformats.org/drawingml/2006/main" w="0">
            <a:solidFill>
              <a:srgbClr val="6857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4761F3-1D3A-4B2B-812F-DC19536E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005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57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857B2"/>
                </a:solidFill>
                <a:latin typeface="Aptos"/>
                <a:ea typeface="Aptos"/>
                <a:cs typeface="Aptos"/>
              </a:rPr>
              <a:t>process_status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DED372-7E6E-44CA-AA96-FF16F047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676775"/>
            <a:ext cx="25336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collector, backend, desktop, simulator의 heartbeat와 상태 저장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0D2882-664B-452D-8E16-55C8CF38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67200"/>
            <a:ext cx="2762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1F4273-5EAC-4191-8315-492621A2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67200"/>
            <a:ext cx="2762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5"/>
          </a:solidFill>
          <a:ln xmlns:a="http://schemas.openxmlformats.org/drawingml/2006/main" w="0">
            <a:solidFill>
              <a:srgbClr val="4E8D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1F11D3-F327-4AF7-B6A0-DB254B90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005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8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E8D55"/>
                </a:solidFill>
                <a:latin typeface="Aptos"/>
                <a:ea typeface="Aptos"/>
                <a:cs typeface="Aptos"/>
              </a:rPr>
              <a:t>response_steps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522926-DA6C-4575-BFBC-C0B2C128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76775"/>
            <a:ext cx="25336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사고별 확인 항목, 완료 여부, 처리 시각 저장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600D32-B689-4A54-9158-332DC077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67200"/>
            <a:ext cx="2190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DED7D0-F441-423B-83E6-9FFBC225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67200"/>
            <a:ext cx="2190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12E"/>
          </a:solidFill>
          <a:ln xmlns:a="http://schemas.openxmlformats.org/drawingml/2006/main" w="0">
            <a:solidFill>
              <a:srgbClr val="1221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288744-D881-44A2-B399-CE944741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00550"/>
            <a:ext cx="1962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108F97-A969-4DD9-A378-565C0997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676775"/>
            <a:ext cx="19621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임계치, 장치 매핑,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운영 설정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412DFD-48FD-4BDE-BB6A-E99F6FF1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860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1:N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4D16E5-EADB-41CA-ABE0-A61BC961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860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1:N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19FFA9-8758-4787-B937-C8B704DE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1:1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2B812C-E788-4C8A-8847-48F39167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29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N:1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89A94C-D465-420E-A78D-83835153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29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1:N</a:t>
            </a:r>
          </a:p>
        </p:txBody>
      </p:sp>
    </p:spTree>
    <p:extLst>
      <p:ext uri="{BB962C8B-B14F-4D97-AF65-F5344CB8AC3E}">
        <p14:creationId xmlns:p14="http://schemas.microsoft.com/office/powerpoint/2010/main" val="7059422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6AD2C6-61B4-42F0-9458-FCF47371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F3C65-E0D7-4B54-AAE9-B4F40CDF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21EA9-0ECA-4ED8-B14C-68EC42FC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A48A5-EAF6-4F5F-9697-2D04C20D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E1A53-36A8-4345-BA8B-36F25745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4AF0C-538F-4A1C-8442-1C34447E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048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rPr>
              <a:t>시스템 동작 흐름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666BE-A6C4-4D75-901D-9B080B82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센서 입력이 사고 대응 화면까지 도달하는 과정을 단계별로 검증할 수 있게 구성했습니다.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D2A32-203A-4E43-80A7-75729D49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293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9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B6322-AC7D-4314-8776-1F5DF497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809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B6567-DD7E-49A2-A4EF-70C293E6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809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294B47-B116-49B9-8E4F-3645A54B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581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1. 센서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59694-DE63-4F5E-9556-81AB467C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0275"/>
            <a:ext cx="25812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Pico 2W가 주기적으로 환경·움직임·밝기 상태를 읽습니다.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FABDB-4AA4-41E5-9DF0-20BC77D0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2809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DC5D8-66BB-4331-8FED-3B80D33A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2809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01CC9-DB25-4B8E-A825-1F391202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2581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2. MQTT 발행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93121-23AC-448A-BCB0-114C8FEC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00275"/>
            <a:ext cx="25812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room_id와 device_id가 포함된 메시지를 broker로 보냅니다.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F1A2B-EC97-469B-9A67-A6768EA5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90700"/>
            <a:ext cx="2809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7E48E-A98E-4466-B3FE-8878D793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90700"/>
            <a:ext cx="2809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D895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2E9DD-BDA6-4F00-85F6-BB789933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2581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95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533"/>
                </a:solidFill>
                <a:latin typeface="Aptos"/>
                <a:ea typeface="Aptos"/>
                <a:cs typeface="Aptos"/>
              </a:rPr>
              <a:t>3. 수집·저장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5F3E5-1FB6-495A-8B51-A7F19B7E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0275"/>
            <a:ext cx="25812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collector가 payload를 검증하고 원본 이벤트를 DB에 저장합니다.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01C10-2287-49FA-8A8B-AFE45E32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809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0BD56-B150-455B-8961-E1924686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809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5"/>
          </a:solidFill>
          <a:ln xmlns:a="http://schemas.openxmlformats.org/drawingml/2006/main" w="0">
            <a:solidFill>
              <a:srgbClr val="4E8D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894458-AB9F-47E6-BA18-A0B73FC9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2581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8D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E8D55"/>
                </a:solidFill>
                <a:latin typeface="Aptos"/>
                <a:ea typeface="Aptos"/>
                <a:cs typeface="Aptos"/>
              </a:rPr>
              <a:t>4. 상태 판단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5E16E8-AB5E-44E5-AF0B-798F24A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5812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backend가 최신 room_status와 alert 조건을 갱신합니다.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9D82B4-319F-4A43-8EB4-A471F0E6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2809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615FB-0162-4635-A7A5-281ED5E2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2809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7B2"/>
          </a:solidFill>
          <a:ln xmlns:a="http://schemas.openxmlformats.org/drawingml/2006/main" w="0">
            <a:solidFill>
              <a:srgbClr val="6857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1DD17A-6BFB-4184-A026-FC5EFA67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33800"/>
            <a:ext cx="2581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57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857B2"/>
                </a:solidFill>
                <a:latin typeface="Aptos"/>
                <a:ea typeface="Aptos"/>
                <a:cs typeface="Aptos"/>
              </a:rPr>
              <a:t>5. 화면 반영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3D5B9-7AB8-4DBC-A268-ADF78553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10025"/>
            <a:ext cx="25812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WebSocket과 API를 통해 dashboard와 desktop이 갱신됩니다.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ECA55-1418-46DB-BC1E-63BF5679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2809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5C6ADD-34D4-408C-AC33-2666E1D9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2809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842"/>
          </a:solidFill>
          <a:ln xmlns:a="http://schemas.openxmlformats.org/drawingml/2006/main" w="0">
            <a:solidFill>
              <a:srgbClr val="D958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320831-F916-4B09-97C6-DFEE0366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2581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8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5842"/>
                </a:solidFill>
                <a:latin typeface="Aptos"/>
                <a:ea typeface="Aptos"/>
                <a:cs typeface="Aptos"/>
              </a:rPr>
              <a:t>6. 대응 기록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15C112-3B5E-4319-A6AC-FA7C5C60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0025"/>
            <a:ext cx="25812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운영자가 체크리스트를 완료하고 incident 상태를 닫습니다.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6B3A9A-3ACE-4E93-85AB-16BD9276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04E366-358B-4ED6-B08C-08528805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0980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35918E-1F26-42E6-8E79-155B9A6C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6DD288-F791-4D98-B55A-0D619DDA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195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D44E4E-1B80-45B8-BA2F-15DD1B91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19550"/>
            <a:ext cx="38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69F0CC-2824-46C9-8663-0B5EEFAC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시연 시나리오: 특정 공간의 값 변화 → 알림 발생 → 사고 패널 확인 → 대응 체크리스트 완료 → 이력 확인</a:t>
            </a:r>
          </a:p>
        </p:txBody>
      </p:sp>
    </p:spTree>
    <p:extLst>
      <p:ext uri="{BB962C8B-B14F-4D97-AF65-F5344CB8AC3E}">
        <p14:creationId xmlns:p14="http://schemas.microsoft.com/office/powerpoint/2010/main" val="12450746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53FF8A-E4AF-4288-BDD4-8B86CADD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88E7D-9100-4EA2-AADD-2C508B47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9FCEA-0BF9-4712-B203-CC7029E7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B71F7-AD2B-4CE8-8C25-5A660AAC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9F83B-ABDD-4AE3-95B8-FD694517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CORE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A93E2-04E2-41DB-AEDB-1DFD7650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048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rPr>
              <a:t>핵심 기능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3BC78-2C9E-48EC-91B5-92C732CF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대시보드, 운영 화면, 알림, 사고 대응 기록이 하나의 안전 관제 흐름으로 연결됩니다.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DF893-92F6-4509-BFAA-72117E64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293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9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28E38-271D-45B7-9A9E-D57BB5A1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333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B7CAB-A17E-4878-92BE-680265F0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8A571-7122-4C70-BBDC-560FEBDA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실시간 공간 카드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41196-3F46-4A3E-AAB5-1AD0C7C7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20478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방별 최신 상태와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위험 단계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70444-388D-4D22-A9AD-1E7196D7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95450"/>
            <a:ext cx="2333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66459-9C45-4787-B66D-C1A59B31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954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D895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33EC6D-769E-40A7-A0DD-3712A656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478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5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89533"/>
                </a:solidFill>
                <a:latin typeface="Aptos"/>
                <a:ea typeface="Aptos"/>
                <a:cs typeface="Aptos"/>
              </a:rPr>
              <a:t>알림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0D1F05-FEE9-45B5-8EE5-67067EA3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05025"/>
            <a:ext cx="20478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임계 조건 또는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수동 알림 등록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4173C-C885-4CF0-ABD7-700D171E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2333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D5403E-8B56-4A72-8519-DD4D9049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842"/>
          </a:solidFill>
          <a:ln xmlns:a="http://schemas.openxmlformats.org/drawingml/2006/main" w="0">
            <a:solidFill>
              <a:srgbClr val="D958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9BFA6-F385-435B-9469-E4B0C575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8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5842"/>
                </a:solidFill>
                <a:latin typeface="Aptos"/>
                <a:ea typeface="Aptos"/>
                <a:cs typeface="Aptos"/>
              </a:rPr>
              <a:t>사고 대응 패널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E5D3F-AC83-4C67-96A8-0327FA03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05025"/>
            <a:ext cx="20478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상태 변경,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담당자 메모 관리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AFD07-409A-4099-9FCB-5CEC9DEE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95450"/>
            <a:ext cx="2333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2A51B-0E09-422E-BB9B-C571EAD2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9545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7B2"/>
          </a:solidFill>
          <a:ln xmlns:a="http://schemas.openxmlformats.org/drawingml/2006/main" w="0">
            <a:solidFill>
              <a:srgbClr val="6857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A26DD5-A614-4E47-BE20-9B114962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4785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57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57B2"/>
                </a:solidFill>
                <a:latin typeface="Aptos"/>
                <a:ea typeface="Aptos"/>
                <a:cs typeface="Aptos"/>
              </a:rPr>
              <a:t>운영 프로세스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7DD074-C24C-4A46-AB9B-97BE2270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05025"/>
            <a:ext cx="20478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collector/backend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heartbeat 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6E5F2-1329-4A7D-B814-2B291598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419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기능별 구현 포인트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FA7861-6BAF-4F95-8408-91E9529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8E545E-0091-469B-B827-54EB250A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0"/>
            <a:ext cx="962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React 화면은 room_status와 incident API를 함께 조회해 공간 상태와 대응 상태를 동시에 보여줍니다.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909061-0F65-4690-8083-638A7463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0E6388-0E02-4CF6-A700-F1B7B0C2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505325"/>
            <a:ext cx="962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데스크톱 앱은 운영자용 제어판 역할을 하며 수동 알림과 프로세스 상태 확인을 지원합니다.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3D6707-0149-43C8-8B87-25002174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64682E-7382-430D-AE29-3F80E2EE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914900"/>
            <a:ext cx="962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체크리스트 완료 여부와 incident 상태가 DB에 남아 이후 발표나 회고에서 처리 과정을 재현할 수 있습니다.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9995D2-9261-427A-88A0-7DF8BBB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50FD19-6F4F-4A80-84E7-245B7C23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24475"/>
            <a:ext cx="962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통계·그래프 화면은 어떤 공간에서 알림이 반복되는지 확인하는 개선 분석의 출발점입니다.</a:t>
            </a:r>
          </a:p>
        </p:txBody>
      </p:sp>
    </p:spTree>
    <p:extLst>
      <p:ext uri="{BB962C8B-B14F-4D97-AF65-F5344CB8AC3E}">
        <p14:creationId xmlns:p14="http://schemas.microsoft.com/office/powerpoint/2010/main" val="18940810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F75D5E-1DD0-4EEA-85FE-96B994F8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E1D2C-0918-4C20-B281-C0DB0007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76A9A-E995-4DB4-B34F-FD48013B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47796-353D-4ABF-8489-91131C5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6DAE5-9AC2-4956-A4C0-61ED93AA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IMPROVEMENTS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B5D3F-11CD-4B99-B9F3-7611A57D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048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rPr>
              <a:t>개발 과정 및 개선 사항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FFC24-014A-43CD-B715-04201979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시연 안정성, 데이터 일관성, 운영 가시성을 높이기 위해 구현 중 발견한 문제를 구조적으로 정리했습니다.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56992-01FB-4293-BFE3-F0F9F68E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293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9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26247-78EE-4E54-9099-9AACFE46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149FA-2EFA-44D5-873E-05B4850C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발견한 문제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35F79-E76D-4963-936E-768E1445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57350"/>
            <a:ext cx="366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2F47A-BA32-4C9E-BDFE-6AD01EA9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33550"/>
            <a:ext cx="3438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개선 방법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F1908-0755-4E74-96D6-62665F59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6573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A39CD-9E1F-493D-A658-65FF8797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733550"/>
            <a:ext cx="3676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효과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73B9A-E922-4255-80F1-82119D2D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7E60AD-BEF4-4AE1-BDE7-DB8E6AF7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914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실제 장치가 없어도 전체 흐름을 검증해야 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32F0B-DB21-4103-A257-3CE371A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57400"/>
            <a:ext cx="36671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CDCD6-583C-41F4-86C9-1CC60C63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52650"/>
            <a:ext cx="3438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시뮬레이터를 동일 payload 구조로 구현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DAAD4F-EE8B-48B5-998D-CCEA951F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57400"/>
            <a:ext cx="390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C8B33-EDC8-4CE3-A955-FF183FD1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152650"/>
            <a:ext cx="3676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하드웨어 연결 전에도 API/UI 개발과 발표 리허설 가능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474A7-B021-4A6B-B32B-4DE8F55F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07809-005D-4E64-861A-0057470E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2914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payload 필드가 계층마다 다르면 화면 오류가 발생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430FC-9F54-4268-AF81-31E0015B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14625"/>
            <a:ext cx="36671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8E7CA-29EA-4862-8CAA-77127AAE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09875"/>
            <a:ext cx="3438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collector에서 필수 필드와 타입을 검증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EE9B30-2890-4911-AC60-22E9CC8F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714625"/>
            <a:ext cx="390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89B39-B715-4950-9264-AE165704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809875"/>
            <a:ext cx="3676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DB 저장 데이터의 신뢰성과 재현성 확보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C9AD0B-BA23-4484-AB96-6BDFCE3E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9CA679-17D4-4C23-8E51-A05FD20F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914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알림만 있고 처리 과정이 남지 않으면 관제 가치가 약함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BF1069-99ED-4CDE-A4B9-DE703E8E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36671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C946F7-56B0-4B7C-B581-35DFC280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67100"/>
            <a:ext cx="3438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incident와 response_steps를 분리 저장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15E90B-3E1D-412D-B541-32F3DB11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371850"/>
            <a:ext cx="390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8099F6-E940-4C97-ACA1-BFA2138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467100"/>
            <a:ext cx="3676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누가 무엇을 확인했는지 추적 가능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C8B3DC-E917-4156-B78F-9BE69C58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A6E004-217F-4B92-98DF-04C73BF1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2914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프로세스가 멈춰도 원인 파악이 늦어질 수 있음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4BC918-54B5-4AA4-9796-9158E942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29075"/>
            <a:ext cx="36671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C3D947-2E5C-4A35-8258-928061E2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24325"/>
            <a:ext cx="3438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heartbeat 기반 process_status 저장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1B2A04-606F-4E07-A15D-FD31AA92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29075"/>
            <a:ext cx="390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F602E1-9B57-4262-9F14-11771839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24325"/>
            <a:ext cx="3676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collector/backend/simulator 상태를 화면에서 확인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CB509E-240E-4341-B12F-ABF819B3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3143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4DE5C8-4D83-46C2-BB44-5BD00060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2914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현재 상태만으로는 반복 위험을 설명하기 어려움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E7A863-D214-432B-AEC2-97C4B92A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86300"/>
            <a:ext cx="36671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B426B0-B474-4FC3-9856-3133087E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81550"/>
            <a:ext cx="3438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통계와 그래프 영역을 추가 설계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1229F6-D99B-4BF5-9AA2-9D7C5EB6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686300"/>
            <a:ext cx="3905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C5153A-1FB6-4EF7-A425-FD8561CA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781550"/>
            <a:ext cx="36766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공간별 반복 패턴과 개선 우선순위 제시 가능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3D2297-A422-4ACD-9EA7-57E9E0F5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43625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A6875"/>
                </a:solidFill>
                <a:latin typeface="Aptos"/>
                <a:ea typeface="Aptos"/>
                <a:cs typeface="Aptos"/>
              </a:rPr>
              <a:t>개선 방향은 기능 추가보다 먼저 데이터 흐름을 안정화하고, 운영자가 실제로 확인해야 하는 상태를 화면에 드러내는 데 초점을 두었습니다.</a:t>
            </a:r>
          </a:p>
        </p:txBody>
      </p:sp>
    </p:spTree>
    <p:extLst>
      <p:ext uri="{BB962C8B-B14F-4D97-AF65-F5344CB8AC3E}">
        <p14:creationId xmlns:p14="http://schemas.microsoft.com/office/powerpoint/2010/main" val="8877028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C4B4A8-7E5F-470C-9119-EFED346B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AD868-2B4D-4797-8389-782ED86A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65E8B-62A9-43FB-BF49-6FF6B1BB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6A829-5D97-47E6-A2B8-280EB83B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17249-55C6-4CC9-B784-484530E6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CB4CB-AE1E-4156-B635-2899900F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048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rPr>
              <a:t>검증 및 시연 준비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9D8F3-88D8-4837-89ED-1E18ECC1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발표에서는 장치 연결 여부와 관계없이 데이터 흐름과 대응 절차가 보이는 시나리오를 중심으로 시연합니다.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17379-D214-45DE-B3F1-F3F238C2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293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9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58475-D436-4357-B170-53B817D1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857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3FA93-4D2F-4874-A213-F71937D2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55"/>
          </a:solidFill>
          <a:ln xmlns:a="http://schemas.openxmlformats.org/drawingml/2006/main" w="0">
            <a:solidFill>
              <a:srgbClr val="4E8D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B8F62-1B7B-497C-8DE9-1E7F804D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8D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E8D55"/>
                </a:solidFill>
                <a:latin typeface="Aptos"/>
                <a:ea typeface="Aptos"/>
                <a:cs typeface="Aptos"/>
              </a:rPr>
              <a:t>실행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A9B3E-C24A-4E6C-9E43-5C48B1C2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2571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uvicorn backend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collector 실행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frontend 화면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98D0E-F82C-4ED6-8058-C915E760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52600"/>
            <a:ext cx="2857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2DFD3-62E5-4779-9D66-A00B0435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526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6450D-5509-461F-83DC-6569C33A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05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데이터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CE045-046A-4AAB-9875-AD1481F9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2571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MQTT 수신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SQLite 저장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API 응답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33D4B-B855-455C-8B32-765796B1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2857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58EA1-197C-4C90-BA59-9377E1D6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66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842"/>
          </a:solidFill>
          <a:ln xmlns:a="http://schemas.openxmlformats.org/drawingml/2006/main" w="0">
            <a:solidFill>
              <a:srgbClr val="D958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7086F-330C-4670-A22B-B557708E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84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5842"/>
                </a:solidFill>
                <a:latin typeface="Aptos"/>
                <a:ea typeface="Aptos"/>
                <a:cs typeface="Aptos"/>
              </a:rPr>
              <a:t>시연 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9F45D-A57D-4F64-9A27-3B670ADF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62175"/>
            <a:ext cx="2571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공간 상태 변화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알림 발생</a:t>
            </a:r>
          </a:p>
          <a:p xmlns:a="http://schemas.openxmlformats.org/drawingml/2006/main">
            <a:pPr algn="l">
              <a:defRPr sz="1500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대응 완료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EBC7F-DAD6-4415-BE2B-B12E29AE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발표 시연 순서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555420-2D27-48ED-865C-F6126FF8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308198-79DA-4FE5-BD26-3210A5FC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76700"/>
            <a:ext cx="9525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대시보드에서 4개 공간의 초기 상태를 확인합니다.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D6044C-5312-47CE-9E4E-2028E163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151CE8-A284-4046-A573-992A79A0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86275"/>
            <a:ext cx="9525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시뮬레이터 또는 실제 장치 입력으로 특정 공간의 상태 변화를 만듭니다.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3097AD-176C-469F-95F2-7EC97ACB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7F9601-69B1-4CA4-9A72-37F94042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95850"/>
            <a:ext cx="9525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알림과 사고 패널이 갱신되는지 확인하고 체크리스트를 완료합니다.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6BD37-C58E-4BB7-8AB0-5FBFBD22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9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78C2A2-FDFC-4C24-8577-AFC4855C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305425"/>
            <a:ext cx="9525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통계 화면과 이력 데이터를 통해 이후 개선 포인트를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10280783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EFE200-C55A-4654-A99F-F7956A29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0DF12-0D7A-4807-918C-D9D5730F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E1F11-60AC-4723-A604-D55B7204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C0E34-DE0F-4985-9F49-E8ABEB47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01E63-69C5-4A74-9F12-29A1257B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BE4DB-9E91-4823-8E4C-DDE23138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048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2212E"/>
                </a:solidFill>
                <a:latin typeface="Aptos Display"/>
                <a:ea typeface="Aptos Display"/>
                <a:cs typeface="Aptos Display"/>
              </a:rPr>
              <a:t>추후 개발 방향: LLM 연동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331B3-BB65-497F-9178-9A91D64B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87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875"/>
                </a:solidFill>
                <a:latin typeface="Aptos"/>
                <a:ea typeface="Aptos"/>
                <a:cs typeface="Aptos"/>
              </a:rPr>
              <a:t>LLM은 센서 판단을 대신하는 기능이 아니라, 운영자가 상황을 빠르게 이해하고 다음 조치를 선택하도록 돕는 보조 계층으로 설계합니다.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FF1B5-F2D0-4A5E-84C3-41481FA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293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D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D89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CADF3-392A-4F1E-B65E-D80F6DD6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FE8B3-25A7-4F29-90A5-15F62C90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9B3EB-EE6C-4C22-92AB-B4614744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95475"/>
            <a:ext cx="2200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상황 요약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DF599-BA1E-4F5F-B002-7BDD8153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2002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최근 이벤트와 사고 이력을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한 문단으로 요약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C5704-BDBF-4F42-A910-866589B6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62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A48A1-73D8-46C5-BFA8-11367EEF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62125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1435D-AAB0-4595-8D39-C29E82FE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895475"/>
            <a:ext cx="2200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7C7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C7C74"/>
                </a:solidFill>
                <a:latin typeface="Aptos"/>
                <a:ea typeface="Aptos"/>
                <a:cs typeface="Aptos"/>
              </a:rPr>
              <a:t>대응 가이드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D750CB-9F44-47BC-B70C-DD51FA2D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71700"/>
            <a:ext cx="22002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사고 유형별 체크리스트와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권장 조치 제안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55A94-0C5C-406F-A293-D74C38F0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AA53E-BD60-450D-9BDC-59866371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33"/>
          </a:solidFill>
          <a:ln xmlns:a="http://schemas.openxmlformats.org/drawingml/2006/main" w="0">
            <a:solidFill>
              <a:srgbClr val="D895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F1623-3263-4F36-B9B7-BAFD45F1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95475"/>
            <a:ext cx="2200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95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533"/>
                </a:solidFill>
                <a:latin typeface="Aptos"/>
                <a:ea typeface="Aptos"/>
                <a:cs typeface="Aptos"/>
              </a:rPr>
              <a:t>반복 패턴 분석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E7A69A-B3FB-4966-AB55-F6B92B99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22002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공간별 반복 알림을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운영 개선 과제로 정리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351BEB-A8DE-4048-8665-22CEBBA0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62125"/>
            <a:ext cx="24288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D54C23-EEDE-429B-A837-53171AB7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62125"/>
            <a:ext cx="2428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7B2"/>
          </a:solidFill>
          <a:ln xmlns:a="http://schemas.openxmlformats.org/drawingml/2006/main" w="0">
            <a:solidFill>
              <a:srgbClr val="6857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E57E9E-52C6-47D0-A412-5A713BC6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95475"/>
            <a:ext cx="2200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857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857B2"/>
                </a:solidFill>
                <a:latin typeface="Aptos"/>
                <a:ea typeface="Aptos"/>
                <a:cs typeface="Aptos"/>
              </a:rPr>
              <a:t>보고서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9DC57D-8206-41B8-871C-74C82020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71700"/>
            <a:ext cx="22002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일별/주별 운영 리포트와</a:t>
            </a:r>
          </a:p>
          <a:p xmlns:a="http://schemas.openxmlformats.org/drawingml/2006/main">
            <a:pPr algn="l">
              <a:defRPr sz="975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조치 완료 내역 작성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05227-7A83-4B7B-9A2A-387E3112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12E"/>
                </a:solidFill>
                <a:latin typeface="Aptos"/>
                <a:ea typeface="Aptos"/>
                <a:cs typeface="Aptos"/>
              </a:rPr>
              <a:t>추가 개발 시 설계 원칙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2E456-621A-40F8-B6DB-7FE80CA7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38EA12-5155-4602-9375-6C9D6D21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171950"/>
            <a:ext cx="962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LLM 입력에는 DB에서 검증된 이벤트, incident, response_steps만 전달해 근거 없는 판단을 줄입니다.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6BEC04-4CCE-40B1-8382-6C6E6FFD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E05FBC-D5E3-4735-9B07-02759500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581525"/>
            <a:ext cx="962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모델 출력은 바로 실행하지 않고 운영자가 확인하는 초안, 요약, 권장안으로 제한합니다.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508E1F-6506-4C95-AC03-E5107FF3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C68EA-C24E-47EF-9883-CFB147F2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991100"/>
            <a:ext cx="962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중요 알림에는 원본 이벤트 링크와 생성 시각을 함께 제공해 사람이 추적할 수 있게 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2B5391-D1A3-4855-AF9E-82BC3F88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4"/>
          </a:solidFill>
          <a:ln xmlns:a="http://schemas.openxmlformats.org/drawingml/2006/main" w="0">
            <a:solidFill>
              <a:srgbClr val="1C7C7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78BF69-A870-4E92-A34C-DAC68E40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400675"/>
            <a:ext cx="9620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57150" rIns="9525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1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2212E"/>
                </a:solidFill>
                <a:latin typeface="Aptos"/>
                <a:ea typeface="Aptos"/>
                <a:cs typeface="Aptos"/>
              </a:rPr>
              <a:t>향후에는 음성 알림, 모바일 알림, 장기 통계 리포트까지 확장할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1244971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2026-06-05T05:37:34.0590000Z</dcterms:created>
  <dcterms:modified xsi:type="dcterms:W3CDTF">2026-06-05T05:37:34.0590000Z</dcterms:modified>
</coreProperties>
</file>