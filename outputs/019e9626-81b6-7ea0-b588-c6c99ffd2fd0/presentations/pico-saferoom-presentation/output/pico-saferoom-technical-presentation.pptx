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2c61f5b3914394" /><Relationship Type="http://schemas.openxmlformats.org/officeDocument/2006/relationships/extended-properties" Target="/docProps/app.xml" Id="R25dc06532583490d" /><Relationship Type="http://schemas.openxmlformats.org/officeDocument/2006/relationships/officeDocument" Target="/ppt/presentation.xml" Id="Ra3873909cc2e4b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3910a033b347f4"/>
  </p:sldMasterIdLst>
  <p:notesMasterIdLst>
    <p:notesMasterId xmlns:r="http://schemas.openxmlformats.org/officeDocument/2006/relationships" r:id="R18f77546c6004ce7"/>
  </p:notesMasterIdLst>
  <p:sldIdLst>
    <p:sldId xmlns:r="http://schemas.openxmlformats.org/officeDocument/2006/relationships" id="256" r:id="R5b5bed6d12ea4a2f"/>
    <p:sldId xmlns:r="http://schemas.openxmlformats.org/officeDocument/2006/relationships" id="257" r:id="R33029c5f6e6b4e9d"/>
    <p:sldId xmlns:r="http://schemas.openxmlformats.org/officeDocument/2006/relationships" id="258" r:id="R97fd1e53e4fd4dd1"/>
    <p:sldId xmlns:r="http://schemas.openxmlformats.org/officeDocument/2006/relationships" id="259" r:id="R84c645a336f64a32"/>
    <p:sldId xmlns:r="http://schemas.openxmlformats.org/officeDocument/2006/relationships" id="260" r:id="R76c43eecd7ae491b"/>
    <p:sldId xmlns:r="http://schemas.openxmlformats.org/officeDocument/2006/relationships" id="261" r:id="R750e4275231945a9"/>
    <p:sldId xmlns:r="http://schemas.openxmlformats.org/officeDocument/2006/relationships" id="262" r:id="R27bb862a67b948ee"/>
    <p:sldId xmlns:r="http://schemas.openxmlformats.org/officeDocument/2006/relationships" id="263" r:id="Rbc090c301eca48a3"/>
    <p:sldId xmlns:r="http://schemas.openxmlformats.org/officeDocument/2006/relationships" id="264" r:id="R20443cc2be444146"/>
    <p:sldId xmlns:r="http://schemas.openxmlformats.org/officeDocument/2006/relationships" id="265" r:id="R573f5d0202b14136"/>
    <p:sldId xmlns:r="http://schemas.openxmlformats.org/officeDocument/2006/relationships" id="266" r:id="R3f0f59fe1c6d4b22"/>
    <p:sldId xmlns:r="http://schemas.openxmlformats.org/officeDocument/2006/relationships" id="267" r:id="R217de719c93d487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421f1a14dc45ef" /><Relationship Type="http://schemas.openxmlformats.org/officeDocument/2006/relationships/slideMaster" Target="/ppt/slideMasters/slideMaster1.xml" Id="Rc33910a033b347f4" /><Relationship Type="http://schemas.openxmlformats.org/officeDocument/2006/relationships/notesMaster" Target="/ppt/notesMasters/notesMaster1.xml" Id="R18f77546c6004ce7" /><Relationship Type="http://schemas.openxmlformats.org/officeDocument/2006/relationships/presProps" Target="/ppt/presProps.xml" Id="Raf6b0ae926de4461" /><Relationship Type="http://schemas.openxmlformats.org/officeDocument/2006/relationships/viewProps" Target="/ppt/viewProps.xml" Id="R6d5f5c1b59f04614" /><Relationship Type="http://schemas.openxmlformats.org/officeDocument/2006/relationships/tableStyles" Target="/ppt/tableStyles.xml" Id="Rd44ebdd879ff4efc" /><Relationship Type="http://schemas.openxmlformats.org/officeDocument/2006/relationships/slide" Target="/ppt/slides/slide1.xml" Id="R5b5bed6d12ea4a2f" /><Relationship Type="http://schemas.openxmlformats.org/officeDocument/2006/relationships/slide" Target="/ppt/slides/slide2.xml" Id="R33029c5f6e6b4e9d" /><Relationship Type="http://schemas.openxmlformats.org/officeDocument/2006/relationships/slide" Target="/ppt/slides/slide3.xml" Id="R97fd1e53e4fd4dd1" /><Relationship Type="http://schemas.openxmlformats.org/officeDocument/2006/relationships/slide" Target="/ppt/slides/slide4.xml" Id="R84c645a336f64a32" /><Relationship Type="http://schemas.openxmlformats.org/officeDocument/2006/relationships/slide" Target="/ppt/slides/slide5.xml" Id="R76c43eecd7ae491b" /><Relationship Type="http://schemas.openxmlformats.org/officeDocument/2006/relationships/slide" Target="/ppt/slides/slide6.xml" Id="R750e4275231945a9" /><Relationship Type="http://schemas.openxmlformats.org/officeDocument/2006/relationships/slide" Target="/ppt/slides/slide7.xml" Id="R27bb862a67b948ee" /><Relationship Type="http://schemas.openxmlformats.org/officeDocument/2006/relationships/slide" Target="/ppt/slides/slide8.xml" Id="Rbc090c301eca48a3" /><Relationship Type="http://schemas.openxmlformats.org/officeDocument/2006/relationships/slide" Target="/ppt/slides/slide9.xml" Id="R20443cc2be444146" /><Relationship Type="http://schemas.openxmlformats.org/officeDocument/2006/relationships/slide" Target="/ppt/slides/slide10.xml" Id="R573f5d0202b14136" /><Relationship Type="http://schemas.openxmlformats.org/officeDocument/2006/relationships/slide" Target="/ppt/slides/slide11.xml" Id="R3f0f59fe1c6d4b22" /><Relationship Type="http://schemas.openxmlformats.org/officeDocument/2006/relationships/slide" Target="/ppt/slides/slide12.xml" Id="R217de719c93d48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d376e2c2b949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894ecc3834483e" /><Relationship Type="http://schemas.openxmlformats.org/officeDocument/2006/relationships/notesMaster" Target="/ppt/notesMasters/notesMaster1.xml" Id="Rcc1ccc1373174a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e06e3d60d24429" /><Relationship Type="http://schemas.openxmlformats.org/officeDocument/2006/relationships/notesMaster" Target="/ppt/notesMasters/notesMaster1.xml" Id="Rf4bfce40ea0145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46ff5015804732" /><Relationship Type="http://schemas.openxmlformats.org/officeDocument/2006/relationships/notesMaster" Target="/ppt/notesMasters/notesMaster1.xml" Id="R0aa53dede87642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65827472564ec6" /><Relationship Type="http://schemas.openxmlformats.org/officeDocument/2006/relationships/notesMaster" Target="/ppt/notesMasters/notesMaster1.xml" Id="Rf90e142f37934f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7cd6e833dc4d5e" /><Relationship Type="http://schemas.openxmlformats.org/officeDocument/2006/relationships/notesMaster" Target="/ppt/notesMasters/notesMaster1.xml" Id="Rd06505c52a734c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164a9e2d9140cf" /><Relationship Type="http://schemas.openxmlformats.org/officeDocument/2006/relationships/notesMaster" Target="/ppt/notesMasters/notesMaster1.xml" Id="R6b8fb2fa4be044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cf323b9a234115" /><Relationship Type="http://schemas.openxmlformats.org/officeDocument/2006/relationships/notesMaster" Target="/ppt/notesMasters/notesMaster1.xml" Id="Rd8cb05e533a643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c76764a878466a" /><Relationship Type="http://schemas.openxmlformats.org/officeDocument/2006/relationships/notesMaster" Target="/ppt/notesMasters/notesMaster1.xml" Id="R24a70b2900a14a6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a624c041af43c0" /><Relationship Type="http://schemas.openxmlformats.org/officeDocument/2006/relationships/notesMaster" Target="/ppt/notesMasters/notesMaster1.xml" Id="R68e1f4defeba4a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ebb817f9f24e8d" /><Relationship Type="http://schemas.openxmlformats.org/officeDocument/2006/relationships/notesMaster" Target="/ppt/notesMasters/notesMaster1.xml" Id="R7612da74aa6c44e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edfb40712a84014" /><Relationship Type="http://schemas.openxmlformats.org/officeDocument/2006/relationships/notesMaster" Target="/ppt/notesMasters/notesMaster1.xml" Id="Ree7b3b4bbccf483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551d10f4c849d0" /><Relationship Type="http://schemas.openxmlformats.org/officeDocument/2006/relationships/notesMaster" Target="/ppt/notesMasters/notesMaster1.xml" Id="R02b6e593208640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f3585be88c48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9166513e204bab" /><Relationship Type="http://schemas.openxmlformats.org/officeDocument/2006/relationships/slideLayout" Target="/ppt/slideLayouts/slideLayout1.xml" Id="Rf67fce8d79f141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7fce8d79f141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851ea6e404278" /><Relationship Type="http://schemas.openxmlformats.org/officeDocument/2006/relationships/notesSlide" Target="/ppt/notesSlides/notesSlide1.xml" Id="R170a1688b5f949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7b94324645496f" /><Relationship Type="http://schemas.openxmlformats.org/officeDocument/2006/relationships/notesSlide" Target="/ppt/notesSlides/notesSlide2.xml" Id="R721792dc420e4b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6aa7fef5a4b68" /><Relationship Type="http://schemas.openxmlformats.org/officeDocument/2006/relationships/notesSlide" Target="/ppt/notesSlides/notesSlide3.xml" Id="R6bd05e8e34dd42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4f1a51fa54d1a" /><Relationship Type="http://schemas.openxmlformats.org/officeDocument/2006/relationships/notesSlide" Target="/ppt/notesSlides/notesSlide4.xml" Id="R29b4ee93c0774e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d3b8f9f4074189" /><Relationship Type="http://schemas.openxmlformats.org/officeDocument/2006/relationships/notesSlide" Target="/ppt/notesSlides/notesSlide5.xml" Id="R643d0d84668f4b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b2fa2f0a6475d" /><Relationship Type="http://schemas.openxmlformats.org/officeDocument/2006/relationships/notesSlide" Target="/ppt/notesSlides/notesSlide6.xml" Id="R1f9ff7ff1a7347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98e3da1154b4f" /><Relationship Type="http://schemas.openxmlformats.org/officeDocument/2006/relationships/notesSlide" Target="/ppt/notesSlides/notesSlide7.xml" Id="R313348fec6a548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91c6326844d59" /><Relationship Type="http://schemas.openxmlformats.org/officeDocument/2006/relationships/notesSlide" Target="/ppt/notesSlides/notesSlide8.xml" Id="Ra1048f760eb84f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5d0ff966b14258" /><Relationship Type="http://schemas.openxmlformats.org/officeDocument/2006/relationships/notesSlide" Target="/ppt/notesSlides/notesSlide9.xml" Id="R79830100e175482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5d9cdffda04a8d" /><Relationship Type="http://schemas.openxmlformats.org/officeDocument/2006/relationships/notesSlide" Target="/ppt/notesSlides/notesSlide10.xml" Id="R2c1fd77038914c9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640f716e164698" /><Relationship Type="http://schemas.openxmlformats.org/officeDocument/2006/relationships/notesSlide" Target="/ppt/notesSlides/notesSlide11.xml" Id="R6f926804a36c490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a35a5c69c249ba" /><Relationship Type="http://schemas.openxmlformats.org/officeDocument/2006/relationships/notesSlide" Target="/ppt/notesSlides/notesSlide12.xml" Id="Re9b7bcd2c60a4d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3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3025CA-D694-4F18-90FB-79F65D42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42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26"/>
          </a:solidFill>
          <a:ln xmlns:a="http://schemas.openxmlformats.org/drawingml/2006/main" w="0">
            <a:solidFill>
              <a:srgbClr val="10232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6BFD50-5382-43FE-BB18-3ED54158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0"/>
            <a:ext cx="476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759294-ADA0-43C2-8113-DCC94CFE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8F"/>
          </a:solidFill>
          <a:ln xmlns:a="http://schemas.openxmlformats.org/drawingml/2006/main" w="0">
            <a:solidFill>
              <a:srgbClr val="2D9B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99339E-34EB-4E33-9F94-96EDD9E0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609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4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Pico SafeRoom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5AE805-0A3A-4862-BC54-B95FD9EF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DCEEE9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>
                <a:solidFill>
                  <a:srgbClr val="DCEEE9"/>
                </a:solidFill>
                <a:latin typeface="Hiragino Sans"/>
                <a:ea typeface="Hiragino Sans"/>
                <a:cs typeface="Hiragino Sans"/>
              </a:rPr>
              <a:t>스마트 실내 환경 안전 관제 시스템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03812A-059F-461A-B292-343416F7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5429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C7DAD5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>
                <a:solidFill>
                  <a:srgbClr val="C7DAD5"/>
                </a:solidFill>
                <a:latin typeface="Hiragino Sans"/>
                <a:ea typeface="Hiragino Sans"/>
                <a:cs typeface="Hiragino Sans"/>
              </a:rPr>
              <a:t>Pico 2W 센서 노드에서 MQTT, FastAPI, SQLite, React dashboard, pywebview desktop app까지 이어지는 로컬 IoT 안전 관제 프로젝트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BE5306-3497-4BB2-B081-C8C3C6CA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2381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3F4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FE9D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FE9DF"/>
                </a:solidFill>
                <a:latin typeface="Hiragino Sans"/>
                <a:ea typeface="Hiragino Sans"/>
                <a:cs typeface="Hiragino Sans"/>
              </a:rPr>
              <a:t>2026.06.01 - 2026.06.05 기준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124535-BC11-4B6B-8BD4-1010C4CF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30530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C292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D4C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7D4C4"/>
                </a:solidFill>
                <a:latin typeface="Hiragino Sans"/>
                <a:ea typeface="Hiragino Sans"/>
                <a:cs typeface="Hiragino Sans"/>
              </a:rPr>
              <a:t>가스 센서 제외 구성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A1EEF7-CE14-4298-9760-96136AAA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704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rPr>
              <a:t>발표 핵심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B8FB71-67C8-4EC9-9878-75BFF96B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143000"/>
            <a:ext cx="3143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505DFE-EC09-430C-AEB2-52FB2465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247775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361BFE-CA03-4261-8ED8-CF63C894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09725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6736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>
                <a:solidFill>
                  <a:srgbClr val="66736F"/>
                </a:solidFill>
                <a:latin typeface="Hiragino Sans"/>
                <a:ea typeface="Hiragino Sans"/>
                <a:cs typeface="Hiragino Sans"/>
              </a:rPr>
              <a:t>Raspberry Pi Pico 2W</a:t>
            </a:r>
          </a:p>
          <a:p xmlns:a="http://schemas.openxmlformats.org/drawingml/2006/main">
            <a:pPr algn="l">
              <a:defRPr sz="900">
                <a:solidFill>
                  <a:srgbClr val="66736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>
                <a:solidFill>
                  <a:srgbClr val="66736F"/>
                </a:solidFill>
                <a:latin typeface="Hiragino Sans"/>
                <a:ea typeface="Hiragino Sans"/>
                <a:cs typeface="Hiragino Sans"/>
              </a:rPr>
              <a:t>room-1부터 room-4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0E470E-1202-424F-B677-05B51B37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33600"/>
            <a:ext cx="3143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614AE0-E6EB-4ED6-A9D3-A58AB586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38375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15D3A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C15D3A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ED39D9-1C75-47B2-A8C2-93095730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00325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6736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>
                <a:solidFill>
                  <a:srgbClr val="66736F"/>
                </a:solidFill>
                <a:latin typeface="Hiragino Sans"/>
                <a:ea typeface="Hiragino Sans"/>
                <a:cs typeface="Hiragino Sans"/>
              </a:rPr>
              <a:t>현재 배선 센서군</a:t>
            </a:r>
          </a:p>
          <a:p xmlns:a="http://schemas.openxmlformats.org/drawingml/2006/main">
            <a:pPr algn="l">
              <a:defRPr sz="900">
                <a:solidFill>
                  <a:srgbClr val="66736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>
                <a:solidFill>
                  <a:srgbClr val="66736F"/>
                </a:solidFill>
                <a:latin typeface="Hiragino Sans"/>
                <a:ea typeface="Hiragino Sans"/>
                <a:cs typeface="Hiragino Sans"/>
              </a:rPr>
              <a:t>온습도, 움직임, 조도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5AF0B5-7815-4E49-A9ED-A0E9B2F8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24200"/>
            <a:ext cx="3143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5A86D9-04BC-481D-AC88-25701A2F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28975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15C8A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315C8A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DC3720-594F-4EC8-95C3-8374F488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90925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6736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>
                <a:solidFill>
                  <a:srgbClr val="66736F"/>
                </a:solidFill>
                <a:latin typeface="Hiragino Sans"/>
                <a:ea typeface="Hiragino Sans"/>
                <a:cs typeface="Hiragino Sans"/>
              </a:rPr>
              <a:t>분리 프로세스</a:t>
            </a:r>
          </a:p>
          <a:p xmlns:a="http://schemas.openxmlformats.org/drawingml/2006/main">
            <a:pPr algn="l">
              <a:defRPr sz="900">
                <a:solidFill>
                  <a:srgbClr val="66736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>
                <a:solidFill>
                  <a:srgbClr val="66736F"/>
                </a:solidFill>
                <a:latin typeface="Hiragino Sans"/>
                <a:ea typeface="Hiragino Sans"/>
                <a:cs typeface="Hiragino Sans"/>
              </a:rPr>
              <a:t>broker, backend, collector, worker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52F0FD-7001-4DAE-8363-0F563C0E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114800"/>
            <a:ext cx="3143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EF513B-D304-4B42-AA1D-E492FC34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19575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5A23A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D5A23A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AE600A-30B6-4C1E-BB1E-E77365F6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81525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6736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>
                <a:solidFill>
                  <a:srgbClr val="66736F"/>
                </a:solidFill>
                <a:latin typeface="Hiragino Sans"/>
                <a:ea typeface="Hiragino Sans"/>
                <a:cs typeface="Hiragino Sans"/>
              </a:rPr>
              <a:t>운영 흐름</a:t>
            </a:r>
          </a:p>
          <a:p xmlns:a="http://schemas.openxmlformats.org/drawingml/2006/main">
            <a:pPr algn="l">
              <a:defRPr sz="900">
                <a:solidFill>
                  <a:srgbClr val="66736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>
                <a:solidFill>
                  <a:srgbClr val="66736F"/>
                </a:solidFill>
                <a:latin typeface="Hiragino Sans"/>
                <a:ea typeface="Hiragino Sans"/>
                <a:cs typeface="Hiragino Sans"/>
              </a:rPr>
              <a:t>감지 -&gt; replay -&gt; checklist 기록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9A5604-E12C-4C1E-852D-D4DE4049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6076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6736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>
                <a:solidFill>
                  <a:srgbClr val="66736F"/>
                </a:solidFill>
                <a:latin typeface="Hiragino Sans"/>
                <a:ea typeface="Hiragino Sans"/>
                <a:cs typeface="Hiragino Sans"/>
              </a:rPr>
              <a:t>editable PPTX / Google Slides import-ready</a:t>
            </a:r>
          </a:p>
        </p:txBody>
      </p:sp>
    </p:spTree>
    <p:extLst>
      <p:ext uri="{BB962C8B-B14F-4D97-AF65-F5344CB8AC3E}">
        <p14:creationId xmlns:p14="http://schemas.microsoft.com/office/powerpoint/2010/main" val="15331810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76820A70-FADF-4614-8290-EE7710D4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C5A"/>
          </a:solidFill>
          <a:ln xmlns:a="http://schemas.openxmlformats.org/drawingml/2006/main" w="0">
            <a:solidFill>
              <a:srgbClr val="0D5C5A"/>
            </a:solidFill>
            <a:prstDash val="solid"/>
          </a:ln>
        </p:spPr>
      </p:sp>
      <p:sp>
        <p:nvSpPr>
          <p:cNvPr id="2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0314CC7B-86D0-4357-A4B9-BA92FB33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rPr>
              <a:t>PLANNING INTENT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81FBB2-FED6-433A-A169-610A23AE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8650"/>
            <a:ext cx="866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기획 의도는 센서값 표시가 아니라, 안전 상황을 끝까지 추적하는 것이다.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611C87-A6B8-4528-8625-E15A4107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15D3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C15D3A"/>
                </a:solidFill>
                <a:latin typeface="Hiragino Sans"/>
                <a:ea typeface="Hiragino Sans"/>
                <a:cs typeface="Hiragino Sans"/>
              </a:rPr>
              <a:t>문제의식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AFD594-4B1A-4BCE-B39C-511B8494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단순 dashboard는 위험값을 보여주지만, 이후 누가 무엇을 확인했는지 남기기 어렵다.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0B048-FB98-40A8-B2D8-FF825C6B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15D3A"/>
          </a:solidFill>
          <a:ln xmlns:a="http://schemas.openxmlformats.org/drawingml/2006/main" w="0">
            <a:solidFill>
              <a:srgbClr val="C15D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E531B3-F2ED-4178-8A1D-4E22BD8F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실내 안전 상태를 실시간으로 수집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BE5F49-1F7A-4635-B438-6DE1E6B6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242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15D3A"/>
          </a:solidFill>
          <a:ln xmlns:a="http://schemas.openxmlformats.org/drawingml/2006/main" w="0">
            <a:solidFill>
              <a:srgbClr val="C15D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20F936-C687-47A5-8E1E-01549305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장치와 프로세스 상태를 함께 감시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AE36CC-3151-4367-8768-06C3931E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052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15D3A"/>
          </a:solidFill>
          <a:ln xmlns:a="http://schemas.openxmlformats.org/drawingml/2006/main" w="0">
            <a:solidFill>
              <a:srgbClr val="C15D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27BAF8-2C6B-4EB7-90A8-00CA6306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발생한 alert를 replay와 report로 설명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55B241-C4EF-4D3C-9558-41F1012F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09750"/>
            <a:ext cx="1524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D5C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Pico 2W</a:t>
            </a:r>
          </a:p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실제 장치 중심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357002-6B59-4EE8-B25E-93D2D33E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09750"/>
            <a:ext cx="2000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D5C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Micro-architecture</a:t>
            </a:r>
          </a:p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collector/backend/ui 분리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BDCA0F-03AB-473A-B5EF-92FA5A70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809750"/>
            <a:ext cx="2095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15D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Incident Response</a:t>
            </a:r>
          </a:p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replay + checklist + evidence</a:t>
            </a:r>
          </a:p>
        </p:txBody>
      </p:sp>
      <p:cxnSp>
        <p:nvCxnSpPr>
          <p:cNvPr id="15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324600" y="21907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5C5A"/>
            </a:solidFill>
            <a:prstDash val="solid"/>
          </a:ln>
        </p:spPr>
      </p:cxnSp>
      <p:cxnSp>
        <p:nvCxnSpPr>
          <p:cNvPr id="16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896350" y="21907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15D3A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6BC3CC-47A1-4436-89D3-49B797FD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00400"/>
            <a:ext cx="67627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E9F2EF"/>
          </a:solidFill>
          <a:ln xmlns:a="http://schemas.openxmlformats.org/drawingml/2006/main" w="9525">
            <a:solidFill>
              <a:srgbClr val="CFE0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6D03C2-7E1B-41DC-8A96-716776D4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4480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rPr>
              <a:t>선택한 방향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867B45-04A4-4303-B0F6-20B41DEB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29050"/>
            <a:ext cx="5962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실제 Pico가 없어도 simulator로 같은 schema를 유지하고, 실제 보드가 연결되면 firmware가 같은 MQTT topic과 payload로 backend에 들어오게 설계했다.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71F11A-48BC-4008-989A-5BEAA0CB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389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556680-EF14-47F1-9DE7-AF0561A1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3415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6736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>
                <a:solidFill>
                  <a:srgbClr val="66736F"/>
                </a:solidFill>
                <a:latin typeface="Hiragino Sans"/>
                <a:ea typeface="Hiragino Sans"/>
                <a:cs typeface="Hiragino Sans"/>
              </a:rPr>
              <a:t>Sources: doc/2nd_project.md, doc/project_technical_spec_2026-06-05.md, README.ko.md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C31BDF-5333-4FA5-930D-6DC8741C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36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6736F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11087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ADD8E1BA-025A-48A9-8317-EBB5127C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C5A"/>
          </a:solidFill>
          <a:ln xmlns:a="http://schemas.openxmlformats.org/drawingml/2006/main" w="0">
            <a:solidFill>
              <a:srgbClr val="0D5C5A"/>
            </a:solidFill>
            <a:prstDash val="solid"/>
          </a:ln>
        </p:spPr>
      </p:sp>
      <p:sp>
        <p:nvSpPr>
          <p:cNvPr id="2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07FF82F7-53F1-4030-93B0-FEEB0DC5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rP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793271-032A-485B-BCEB-5E0DDFE7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865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시스템은 장치, 수집, 검증, 저장, 표시 책임을 분리해 장애 지점을 설명할 수 있게 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8AD83-B0F8-45F1-BD19-5E438390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170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D5C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Pico 2W nodes</a:t>
            </a:r>
          </a:p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MicroPython sensor publish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644FFA-E1ED-4C0E-B1C1-6551DD47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1717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D5C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MQTT Broker</a:t>
            </a:r>
          </a:p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saferoom/+/+/...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7B7043-9DAD-4FC0-B792-4EAB9BE7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71700"/>
            <a:ext cx="166687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D5C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Collector</a:t>
            </a:r>
          </a:p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topic/payload 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39533A-3178-458D-8884-C36FED04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71700"/>
            <a:ext cx="195262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15C8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FastAPI Backend</a:t>
            </a:r>
          </a:p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REST + internal ingest + 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921BD7-65EA-4B06-9AF5-083CE28C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619250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FE7D8"/>
          </a:solidFill>
          <a:ln xmlns:a="http://schemas.openxmlformats.org/drawingml/2006/main" w="11430">
            <a:solidFill>
              <a:srgbClr val="D5A2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SQLite</a:t>
            </a:r>
          </a:p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readings, alerts, auth, logs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13DCE-153E-48C5-8F4C-106B58AF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914650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15D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React Dashboard</a:t>
            </a:r>
          </a:p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latest, stats, replay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27635A-3FF6-4795-B312-6015F908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00550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D5C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pywebview App</a:t>
            </a:r>
          </a:p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process launcher shell</a:t>
            </a:r>
          </a:p>
        </p:txBody>
      </p:sp>
      <p:cxnSp>
        <p:nvCxnSpPr>
          <p:cNvPr id="1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133600" y="25812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5C5A"/>
            </a:solidFill>
            <a:prstDash val="solid"/>
          </a:ln>
        </p:spPr>
      </p:cxnSp>
      <p:cxnSp>
        <p:nvCxnSpPr>
          <p:cNvPr id="1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057650" y="25812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5C5A"/>
            </a:solidFill>
            <a:prstDash val="solid"/>
          </a:ln>
        </p:spPr>
      </p:cxnSp>
      <p:cxnSp>
        <p:nvCxnSpPr>
          <p:cNvPr id="1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124575" y="258127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5C5A"/>
            </a:solidFill>
            <a:prstDash val="solid"/>
          </a:ln>
        </p:spPr>
      </p:cxnSp>
      <p:cxnSp>
        <p:nvCxnSpPr>
          <p:cNvPr id="1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8486775" y="1990725"/>
            <a:ext cx="409575" cy="590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5A23A"/>
            </a:solidFill>
            <a:prstDash val="solid"/>
          </a:ln>
        </p:spPr>
      </p:cxnSp>
      <p:cxnSp>
        <p:nvCxnSpPr>
          <p:cNvPr id="15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486775" y="2581275"/>
            <a:ext cx="409575" cy="704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15D3A"/>
            </a:solidFill>
            <a:prstDash val="solid"/>
          </a:ln>
        </p:spPr>
      </p:cxnSp>
      <p:cxnSp>
        <p:nvCxnSpPr>
          <p:cNvPr id="16" name=""/>
          <p:cNvCxnSpPr>
            <a:stCxn xmlns:a="http://schemas.openxmlformats.org/drawingml/2006/main" id="10" idx="1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 flipV="1">
            <a:off x="7510463" y="2990850"/>
            <a:ext cx="1385888" cy="1781175"/>
          </a:xfrm>
          <a:prstGeom xmlns:a="http://schemas.openxmlformats.org/drawingml/2006/main" prst="bentConnector4">
            <a:avLst>
              <a:gd name="adj1" fmla="val 16495"/>
              <a:gd name="adj2" fmla="val 87166"/>
            </a:avLst>
          </a:prstGeom>
          <a:ln xmlns:a="http://schemas.openxmlformats.org/drawingml/2006/main" w="19050">
            <a:solidFill>
              <a:srgbClr val="0D5C5A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0362FC-7F0D-43DE-B43F-70059F67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7334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0">
            <a:solidFill>
              <a:srgbClr val="1023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090FF7-3CDF-4100-9ED1-B153106D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FE9D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BFE9DF"/>
                </a:solidFill>
                <a:latin typeface="Hiragino Sans"/>
                <a:ea typeface="Hiragino Sans"/>
                <a:cs typeface="Hiragino Sans"/>
              </a:rPr>
              <a:t>Runtime 분리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8FF575-A804-4180-89CA-34FD4173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backend, collector, worker는 process heartbeat로 상태를 남기고, dashboard는 REST polling과 WebSocket을 함께 사용한다.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EAA3F0-4E1A-40D0-B3F5-5632C897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67350"/>
            <a:ext cx="16954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2E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46F5F1-1B15-486F-AA7E-FE47B307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7212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rPr>
              <a:t>WS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793B98-870F-4522-A35B-59174320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6736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>
                <a:solidFill>
                  <a:srgbClr val="66736F"/>
                </a:solidFill>
                <a:latin typeface="Hiragino Sans"/>
                <a:ea typeface="Hiragino Sans"/>
                <a:cs typeface="Hiragino Sans"/>
              </a:rPr>
              <a:t>reading.created broadcast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0D291E-1F95-4323-8DA6-0E859FA4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67350"/>
            <a:ext cx="2286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2E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713487-B586-4A63-8DF2-FFAE9657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572125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rPr>
              <a:t>REST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157CCC-A6C2-4AD8-B2FC-410940A5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934075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6736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>
                <a:solidFill>
                  <a:srgbClr val="66736F"/>
                </a:solidFill>
                <a:latin typeface="Hiragino Sans"/>
                <a:ea typeface="Hiragino Sans"/>
                <a:cs typeface="Hiragino Sans"/>
              </a:rPr>
              <a:t>health, stats, latest, replay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B0C260-8C50-49BB-BA0A-4DE664FE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467350"/>
            <a:ext cx="2476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2E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F27810-3801-4425-A462-083C8CA8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572125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rPr>
              <a:t>HTTP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E49A6A-55A9-4295-A188-9ED86CA0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934075"/>
            <a:ext cx="224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6736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>
                <a:solidFill>
                  <a:srgbClr val="66736F"/>
                </a:solidFill>
                <a:latin typeface="Hiragino Sans"/>
                <a:ea typeface="Hiragino Sans"/>
                <a:cs typeface="Hiragino Sans"/>
              </a:rPr>
              <a:t>collector -&gt; /internal/events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453C12-8109-4B60-819E-6ADDF716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389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DB4066-6BCC-4B88-A854-274EF49C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3415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6736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>
                <a:solidFill>
                  <a:srgbClr val="66736F"/>
                </a:solidFill>
                <a:latin typeface="Hiragino Sans"/>
                <a:ea typeface="Hiragino Sans"/>
                <a:cs typeface="Hiragino Sans"/>
              </a:rPr>
              <a:t>Sources: README.ko.md, apps/desktop/app.py, apps/backend/main.py, apps/collector/mqtt_client.py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CE87D4-4FBD-4D17-ADD9-03521465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36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6736F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011616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478A947E-382D-468E-AF84-AA7AC7AA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C5A"/>
          </a:solidFill>
          <a:ln xmlns:a="http://schemas.openxmlformats.org/drawingml/2006/main" w="0">
            <a:solidFill>
              <a:srgbClr val="0D5C5A"/>
            </a:solidFill>
            <a:prstDash val="solid"/>
          </a:ln>
        </p:spPr>
      </p:sp>
      <p:sp>
        <p:nvSpPr>
          <p:cNvPr id="2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6BB94BEF-37FC-464F-8E54-936699F7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rPr>
              <a:t>HARDWARE WIRING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5742E4-A12C-47A2-A759-380415BE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8650"/>
            <a:ext cx="866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하드웨어 발표 기준은 가스 센서를 제외한 실제 Pico 2W 배선이다.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E842A4-A6B5-4429-8296-10148622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rPr>
              <a:t>Pin 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34CF5E-D26D-4385-B4C5-B0EF57B2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1600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26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E1F3B9-57E1-45EA-A0B1-34C2681A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Sensor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D5D69C-A147-4DD2-84A0-F4CE0890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924050"/>
            <a:ext cx="2057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26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7A2B55-F179-4F26-963C-59676D8A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9812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Pico signal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DB4334-4A8B-462D-8B02-CC0AEA07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240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26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3CB4FB-5A1C-495F-B757-A6610D26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Power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522D34-BDA9-45AA-85BB-ED039911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240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26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178AC8-E129-47B2-90D3-E8B88186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81200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Unit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309333-7C70-450C-B95F-273FEA12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1600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388D30-935A-4062-B6CF-DD4B192B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144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Temperature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6B3189-7679-4482-A530-93F6DE6D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286000"/>
            <a:ext cx="2057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6F1918-65E6-4AFA-BB2E-830E5451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431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GP16 / DHT 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980791-529D-433A-955E-C828CCF5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860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B4E6BE-BD30-4D01-A5B4-64FB76AA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4315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3V3(OUT) + GND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8163DE-FB3F-45B7-A0E8-405322AC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860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D1455D-7DC9-4D0A-8650-7E5780D4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43150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celsius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3E9003-1EC5-4CDD-80F1-AE40142C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43200"/>
            <a:ext cx="1600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D40B41-C663-46D2-8DB6-FB5580F7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144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Humidity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2E5CF2-7B1E-4B4D-98EB-36F669F0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743200"/>
            <a:ext cx="2057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34F217-EF2D-4643-9956-9959878F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8003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GP16 / DHT DATA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791F12-6E80-4F7B-AF20-82E9AD2E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432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58D933-6741-4ED9-A2F0-FC38992F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0035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3V3(OUT) + GND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1E4623-6067-465A-BECF-86A49857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432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7939C3-FCAE-44E6-B3DE-7E9B511C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00350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854D90-AB64-44E7-9DD6-8F7B7C0E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0400"/>
            <a:ext cx="1600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B3FBD0-3936-4870-86EA-D3069BC4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57550"/>
            <a:ext cx="144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Motion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345472-F534-4C96-91B4-C5EAE8CD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200400"/>
            <a:ext cx="2057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14A8B3-3CDA-44EC-93CB-1748BFF3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575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GP17 / PIR OUT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E2ED30-9E18-4801-A2A0-F22102D1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004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F56A1A-76EE-418E-B615-C0B01CA4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5755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sensor VCC + GND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DFFE8E-F9F0-4AFD-A9F7-A7EB4E12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004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072928-7D94-46C7-BCA2-B90FAEC5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57550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bool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76387E-86F9-4D4A-97A9-11708AFE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57600"/>
            <a:ext cx="1600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E3CCB1-1DCB-476C-8B27-53B3A5CE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144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Light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A092360-E91B-4069-91AB-84118528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657600"/>
            <a:ext cx="2057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8600411-9F6A-47C4-A557-8E691DB5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147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GP27 / ADC1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072046-B995-4AA5-A631-57BB47C7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576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28C26B3-270E-42EC-93C7-CECFFBE7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1475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3V3 divider + GND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77FD88-DBDA-4707-B8A2-BD963402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576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746F1DF-1DD0-4B8C-85D6-730433AD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14750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lux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3649FF6-9450-4556-98F7-F69786D6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14800"/>
            <a:ext cx="1600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DD4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B2EDD21-3289-4210-A8F8-A23A169A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144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Gas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0556859-7F58-4234-A664-F1E3AF8F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114800"/>
            <a:ext cx="2057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DD4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0225D91-5231-4C06-A4FB-B190AF83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1719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GP26 / ADC0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EE882EC-63E2-4979-8CAD-EDEBE88A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148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DD4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6B3B85C-84C0-4E4E-BE20-63721F5B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7195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not installed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34CC682-4043-4F78-A257-BB5C4A1C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148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DD4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BA094E1-639A-4E5F-926F-059D9F69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71950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disabled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7280D6B-315C-4352-B8A9-CA582DAB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52600"/>
            <a:ext cx="320040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0">
            <a:solidFill>
              <a:srgbClr val="10232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EB92F5E-7F1F-4786-B1D6-86A1B6CB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00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D4C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7D4C4"/>
                </a:solidFill>
                <a:latin typeface="Hiragino Sans"/>
                <a:ea typeface="Hiragino Sans"/>
                <a:cs typeface="Hiragino Sans"/>
              </a:rPr>
              <a:t>현재 설정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3711199-BAC1-4A89-B1D6-A0DEC886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431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ENABLE_GAS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255944E-B330-4376-A555-0D83D1FC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86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D4C4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F7D4C4"/>
                </a:solidFill>
                <a:latin typeface="Hiragino Sans"/>
                <a:ea typeface="Hiragino Sans"/>
                <a:cs typeface="Hiragino Sans"/>
              </a:rPr>
              <a:t>= False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B984D1A-45A2-4E03-A89F-EED24F8F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289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D7E3D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>
                <a:solidFill>
                  <a:srgbClr val="D7E3DF"/>
                </a:solidFill>
                <a:latin typeface="Hiragino Sans"/>
                <a:ea typeface="Hiragino Sans"/>
                <a:cs typeface="Hiragino Sans"/>
              </a:rPr>
              <a:t>초기 문서에는 gas 확장 흔적이 있지만, 발표 배선에서는 제외한다.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98098AB-9A82-436F-B2DF-200CAFDC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52850"/>
            <a:ext cx="15049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7E6BD70-9C34-4C0E-98CE-2EDAF894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57625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rPr>
              <a:t>pico-safe-001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DB3220C-5D23-41F1-A626-53A7866F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19575"/>
            <a:ext cx="1276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6736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>
                <a:solidFill>
                  <a:srgbClr val="66736F"/>
                </a:solidFill>
                <a:latin typeface="Hiragino Sans"/>
                <a:ea typeface="Hiragino Sans"/>
                <a:cs typeface="Hiragino Sans"/>
              </a:rPr>
              <a:t>room-1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B81F1FC-6F24-457B-A4DD-C79BD773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52850"/>
            <a:ext cx="15049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58A48E7-F7D7-4CE6-8CB5-30DA28E2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857625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rPr>
              <a:t>pico-safe-002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2264B96-9650-4C4B-A36A-51EEAD07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219575"/>
            <a:ext cx="1276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6736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>
                <a:solidFill>
                  <a:srgbClr val="66736F"/>
                </a:solidFill>
                <a:latin typeface="Hiragino Sans"/>
                <a:ea typeface="Hiragino Sans"/>
                <a:cs typeface="Hiragino Sans"/>
              </a:rPr>
              <a:t>room-2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E2251CF-FC99-49C8-A5BE-FFB4ED8D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29150"/>
            <a:ext cx="15049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523FBD5-CF22-4C76-B6BF-821C2BCE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33925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rPr>
              <a:t>pico-safe-003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572115A-CC3D-4205-87BA-C1042600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95875"/>
            <a:ext cx="1276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6736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>
                <a:solidFill>
                  <a:srgbClr val="66736F"/>
                </a:solidFill>
                <a:latin typeface="Hiragino Sans"/>
                <a:ea typeface="Hiragino Sans"/>
                <a:cs typeface="Hiragino Sans"/>
              </a:rPr>
              <a:t>room-3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380581E-62BA-485B-AD8C-1E6B0F71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629150"/>
            <a:ext cx="15049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33AA65A-2B73-4695-8C7B-37C92415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733925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rPr>
              <a:t>pico-safe-004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57ABD9E-1E10-4302-B696-E7A39778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095875"/>
            <a:ext cx="1276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6736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>
                <a:solidFill>
                  <a:srgbClr val="66736F"/>
                </a:solidFill>
                <a:latin typeface="Hiragino Sans"/>
                <a:ea typeface="Hiragino Sans"/>
                <a:cs typeface="Hiragino Sans"/>
              </a:rPr>
              <a:t>room-4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19B3474-9910-4359-BD29-EEC6E5BB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C15D3A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C15D3A"/>
                </a:solidFill>
                <a:latin typeface="Hiragino Sans"/>
                <a:ea typeface="Hiragino Sans"/>
                <a:cs typeface="Hiragino Sans"/>
              </a:rPr>
              <a:t>주의: Pico GPIO/ADC는 3.3V 전용이므로 5V 출력 센서는 level shifter 또는 voltage divider가 필요하다.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410CEE4-B678-4FB4-A58B-33EAAFDE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389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1CCD631-4932-410A-9BEC-691AFFBE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3415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6736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>
                <a:solidFill>
                  <a:srgbClr val="66736F"/>
                </a:solidFill>
                <a:latin typeface="Hiragino Sans"/>
                <a:ea typeface="Hiragino Sans"/>
                <a:cs typeface="Hiragino Sans"/>
              </a:rPr>
              <a:t>Sources: firmware/pico2w/README.real-sensors.ko.md, firmware/pico2w/config.example.py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2E7988E-70FD-4140-90EB-2E936B14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36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6736F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609717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F0E4DA9D-4347-4362-AD65-A6EC2690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C5A"/>
          </a:solidFill>
          <a:ln xmlns:a="http://schemas.openxmlformats.org/drawingml/2006/main" w="0">
            <a:solidFill>
              <a:srgbClr val="0D5C5A"/>
            </a:solidFill>
            <a:prstDash val="solid"/>
          </a:ln>
        </p:spPr>
      </p:sp>
      <p:sp>
        <p:nvSpPr>
          <p:cNvPr id="2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6368705D-D92B-48E2-885E-8D4C4E92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rPr>
              <a:t>DATA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0E7C20-B399-4AD2-B0C4-270E2109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865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MQTT topic과 payload 일치 검증이 데이터 품질의 첫 번째 방어선이다.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51C983-7EF7-455F-99E3-C22CE173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5810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0">
            <a:solidFill>
              <a:srgbClr val="10232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D5F7D-6E57-42F0-9B0C-7239CD2B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1927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saferoom/{zone_id}/{device_id}/sensors/{sensor_id}/reading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210AE0-64DC-44AD-9F59-445838EB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17526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D5C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MQTT Topic</a:t>
            </a:r>
          </a:p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room/device/sensor 경로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FF8FD4-C19D-4E6D-802A-F5B02D4A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95600"/>
            <a:ext cx="2000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D5C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Payload JSON</a:t>
            </a:r>
          </a:p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value, unit, seq, timestamp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30AD38-032D-45BD-997E-57AAADD5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95600"/>
            <a:ext cx="2095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9F2EF"/>
          </a:solidFill>
          <a:ln xmlns:a="http://schemas.openxmlformats.org/drawingml/2006/main" w="11430">
            <a:solidFill>
              <a:srgbClr val="0D5C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Parser</a:t>
            </a:r>
          </a:p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segment 수 + 필드 일치 검사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DF564A-56C6-4DD6-85A7-9E97587A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95600"/>
            <a:ext cx="2095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15D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SensorEvent</a:t>
            </a:r>
          </a:p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site_id, quality, metadata</a:t>
            </a:r>
          </a:p>
        </p:txBody>
      </p:sp>
      <p:cxnSp>
        <p:nvCxnSpPr>
          <p:cNvPr id="10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647950" y="3257550"/>
            <a:ext cx="3181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5C5A"/>
            </a:solidFill>
            <a:prstDash val="solid"/>
          </a:ln>
        </p:spPr>
      </p:cxnSp>
      <p:cxnSp>
        <p:nvCxnSpPr>
          <p:cNvPr id="1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238750" y="325755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5C5A"/>
            </a:solidFill>
            <a:prstDash val="solid"/>
          </a:ln>
        </p:spPr>
      </p:cxnSp>
      <p:cxnSp>
        <p:nvCxnSpPr>
          <p:cNvPr id="1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924800" y="325755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15D3A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9D98E4-C02B-467A-9C3C-36C51918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42862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E14E5D-C34C-450B-9F06-69C2BA21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15D3A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C15D3A"/>
                </a:solidFill>
                <a:latin typeface="Hiragino Sans"/>
                <a:ea typeface="Hiragino Sans"/>
                <a:cs typeface="Hiragino Sans"/>
              </a:rPr>
              <a:t>거부 조건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C2AA09-FF56-44F9-BF25-CD7C7CBA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006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15D3A"/>
          </a:solidFill>
          <a:ln xmlns:a="http://schemas.openxmlformats.org/drawingml/2006/main" w="0">
            <a:solidFill>
              <a:srgbClr val="C15D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80EBE9-E680-41A1-A27C-DEC12C31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1490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topic segment 형식이 다름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8D37E8-AEB4-4652-9A68-E78CB938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673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15D3A"/>
          </a:solidFill>
          <a:ln xmlns:a="http://schemas.openxmlformats.org/drawingml/2006/main" w="0">
            <a:solidFill>
              <a:srgbClr val="C15D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63D38F-4462-4F2A-98BD-740A80C0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8160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payload의 zone/device/sensor가 topic과 다름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42D60D-F775-4E93-820F-CB849EE6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340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15D3A"/>
          </a:solidFill>
          <a:ln xmlns:a="http://schemas.openxmlformats.org/drawingml/2006/main" w="0">
            <a:solidFill>
              <a:srgbClr val="C15D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F0B5AC-B7D9-42FD-974D-63CBF1AC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4830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JSON 또는 schema 검증 실패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99148B-D244-48A1-BE2C-0AEA4E46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343400"/>
            <a:ext cx="5143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9F2EF"/>
          </a:solidFill>
          <a:ln xmlns:a="http://schemas.openxmlformats.org/drawingml/2006/main" w="9525">
            <a:solidFill>
              <a:srgbClr val="CFE0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E4B1DE-7EB4-413E-98B1-E15B1CC1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5720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rPr>
              <a:t>저장 전 표준화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2992E9-B9FB-4F5C-87EB-79416969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9339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collector는 MQTT 세부 형식을 backend 내부 schema로 변환한다. 이 덕분에 simulator와 실제 firmware가 같은 backend/UI를 공유한다.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8ED274-33A1-40B9-9625-7C16E9F6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389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E4CE5C-5CB8-4D80-A9F9-7DA7A8F6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3415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6736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>
                <a:solidFill>
                  <a:srgbClr val="66736F"/>
                </a:solidFill>
                <a:latin typeface="Hiragino Sans"/>
                <a:ea typeface="Hiragino Sans"/>
                <a:cs typeface="Hiragino Sans"/>
              </a:rPr>
              <a:t>Sources: apps/collector/mqtt_parser.py, firmware/pico2w/payloads.py, shared/schemas/sensor_event.py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EA056F-9A4F-4FDF-AEE0-39B147D8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36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6736F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807908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67D45639-8C63-4114-8835-4554F40C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C5A"/>
          </a:solidFill>
          <a:ln xmlns:a="http://schemas.openxmlformats.org/drawingml/2006/main" w="0">
            <a:solidFill>
              <a:srgbClr val="0D5C5A"/>
            </a:solidFill>
            <a:prstDash val="solid"/>
          </a:ln>
        </p:spPr>
      </p:sp>
      <p:sp>
        <p:nvSpPr>
          <p:cNvPr id="2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908A9AF1-E9E1-4245-A58C-88DF6DEE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rPr>
              <a:t>DB SCHEMA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081DA7-BF89-47AC-9B6F-F8F14C60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8650"/>
            <a:ext cx="866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DB는 센서 이력뿐 아니라 운영 대응과 시스템 상태까지 저장한다.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206A4-6A02-4F30-8BF9-95A8F3E5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714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D5C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devices</a:t>
            </a:r>
          </a:p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device registry</a:t>
            </a:r>
          </a:p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last_seen_at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9F2D5-303D-455A-A63F-1CB078FE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71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D5C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sensors</a:t>
            </a:r>
          </a:p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device_id + sensor_id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AC5340-219C-460C-9A8A-A548C834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62200"/>
            <a:ext cx="2190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9F2EF"/>
          </a:solidFill>
          <a:ln xmlns:a="http://schemas.openxmlformats.org/drawingml/2006/main" w="11430">
            <a:solidFill>
              <a:srgbClr val="0D5C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sensor_readings</a:t>
            </a:r>
          </a:p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event_id, value, quality,</a:t>
            </a:r>
          </a:p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payload_json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B76E7F-7044-44CA-BD2E-2AC9C86D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2000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15D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alerts</a:t>
            </a:r>
          </a:p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level, code, status,</a:t>
            </a:r>
          </a:p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created/resolved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76EE25-DB79-488D-A38F-33FB9B9A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24200"/>
            <a:ext cx="2000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2DDD4"/>
          </a:solidFill>
          <a:ln xmlns:a="http://schemas.openxmlformats.org/drawingml/2006/main" w="11430">
            <a:solidFill>
              <a:srgbClr val="C15D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incident_responses</a:t>
            </a:r>
          </a:p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checklist, note,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AAA431-DAAA-4B10-84BF-C75DD9A9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790700"/>
            <a:ext cx="1905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FE7D8"/>
          </a:solidFill>
          <a:ln xmlns:a="http://schemas.openxmlformats.org/drawingml/2006/main" w="11430">
            <a:solidFill>
              <a:srgbClr val="D5A2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system_logs</a:t>
            </a:r>
          </a:p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ingest and validation trail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13D673-3738-42FA-94EF-2C1E5E0D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52750"/>
            <a:ext cx="1905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FE7D8"/>
          </a:solidFill>
          <a:ln xmlns:a="http://schemas.openxmlformats.org/drawingml/2006/main" w="11430">
            <a:solidFill>
              <a:srgbClr val="D5A2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process_heartbeats</a:t>
            </a:r>
          </a:p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backend, collector, worker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A9DEDB-A1BE-4607-B6FB-C65AB62C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114800"/>
            <a:ext cx="1905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15C8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users / auth_accounts</a:t>
            </a:r>
          </a:p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/ auth_sessions</a:t>
            </a:r>
          </a:p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email + social session</a:t>
            </a:r>
          </a:p>
        </p:txBody>
      </p:sp>
      <p:cxnSp>
        <p:nvCxnSpPr>
          <p:cNvPr id="12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400300" y="2133600"/>
            <a:ext cx="7429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5C5A"/>
            </a:solidFill>
            <a:prstDash val="solid"/>
          </a:ln>
        </p:spPr>
      </p:cxnSp>
      <p:cxnSp>
        <p:nvCxnSpPr>
          <p:cNvPr id="1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400300" y="2876550"/>
            <a:ext cx="74295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5C5A"/>
            </a:solidFill>
            <a:prstDash val="solid"/>
          </a:ln>
        </p:spPr>
      </p:cxnSp>
      <p:cxnSp>
        <p:nvCxnSpPr>
          <p:cNvPr id="1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5334000" y="2162175"/>
            <a:ext cx="76200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15D3A"/>
            </a:solidFill>
            <a:prstDash val="solid"/>
          </a:ln>
        </p:spPr>
      </p:cxnSp>
      <p:cxnSp>
        <p:nvCxnSpPr>
          <p:cNvPr id="15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7096125" y="2628900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15D3A"/>
            </a:solidFill>
            <a:prstDash val="solid"/>
          </a:ln>
        </p:spPr>
      </p:cxnSp>
      <p:cxnSp>
        <p:nvCxnSpPr>
          <p:cNvPr id="16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5334000" y="2152650"/>
            <a:ext cx="3543300" cy="723900"/>
          </a:xfrm>
          <a:prstGeom xmlns:a="http://schemas.openxmlformats.org/drawingml/2006/main" prst="bentConnector3">
            <a:avLst>
              <a:gd name="adj1" fmla="val 93548"/>
            </a:avLst>
          </a:prstGeom>
          <a:ln xmlns:a="http://schemas.openxmlformats.org/drawingml/2006/main" w="19050">
            <a:solidFill>
              <a:srgbClr val="D5A23A"/>
            </a:solidFill>
            <a:prstDash val="solid"/>
          </a:ln>
        </p:spPr>
      </p:cxnSp>
      <p:cxnSp>
        <p:nvCxnSpPr>
          <p:cNvPr id="17" name=""/>
          <p:cNvCxnSpPr>
            <a:stCxn xmlns:a="http://schemas.openxmlformats.org/drawingml/2006/main" id="10" idx="0"/>
            <a:endCxn xmlns:a="http://schemas.openxmlformats.org/drawingml/2006/main" id="9" idx="2"/>
          </p:cNvCxnSpPr>
          <p:nvPr/>
        </p:nvCxnSpPr>
        <p:spPr>
          <a:xfrm xmlns:a="http://schemas.openxmlformats.org/drawingml/2006/main" flipV="1">
            <a:off x="9829800" y="251460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5A23A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20E40D-E920-45AB-BA8C-D5AFA2B5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71628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0">
            <a:solidFill>
              <a:srgbClr val="10232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4776A2-252D-43C4-ADD1-EC7634F3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482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FE9D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BFE9DF"/>
                </a:solidFill>
                <a:latin typeface="Hiragino Sans"/>
                <a:ea typeface="Hiragino Sans"/>
                <a:cs typeface="Hiragino Sans"/>
              </a:rPr>
              <a:t>설계 포인트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22D87C-263B-4430-A254-AE6AF7A0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0482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reading 저장과 동시에 system_logs를 남기고, threshold를 넘으면 alerts를 생성한다. alert 확인 시 대응 기록은 incident_responses에 유지된다.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12D7F8-988F-4A15-B967-952D713C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389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B449B6-0DC9-497E-86F7-F48A9A82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3415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6736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>
                <a:solidFill>
                  <a:srgbClr val="66736F"/>
                </a:solidFill>
                <a:latin typeface="Hiragino Sans"/>
                <a:ea typeface="Hiragino Sans"/>
                <a:cs typeface="Hiragino Sans"/>
              </a:rPr>
              <a:t>Sources: apps/backend/db/sqlite_repository.py, doc/project_technical_spec_2026-06-05.md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B6B594-7694-4CF4-8C4C-61EC3E69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36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6736F"/>
                </a:solidFill>
                <a:latin typeface="Hiragino Sans"/>
                <a:ea typeface="Hiragino Sans"/>
                <a:cs typeface="Hiragino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378093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2CE39920-1546-493F-825C-5830E85F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C5A"/>
          </a:solidFill>
          <a:ln xmlns:a="http://schemas.openxmlformats.org/drawingml/2006/main" w="0">
            <a:solidFill>
              <a:srgbClr val="0D5C5A"/>
            </a:solidFill>
            <a:prstDash val="solid"/>
          </a:ln>
        </p:spPr>
      </p:sp>
      <p:sp>
        <p:nvSpPr>
          <p:cNvPr id="2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B1C7569C-4276-47D0-A5A8-CD25A9CA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rPr>
              <a:t>FLOWCHART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07D62E-B57F-4778-8283-57ADC3ED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8650"/>
            <a:ext cx="971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센서값 하나는 ingest, alert 판단, replay, operator 기록으로 이어진다.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3BB288-B3A4-4747-BE5E-EC7DD0D4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4668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D5C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1. 센서 읽기</a:t>
            </a:r>
          </a:p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DHT / PIR / LDR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A2C2D4-8771-405B-8786-0CF03C6E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809750"/>
            <a:ext cx="1524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D5C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2. MQTT publish</a:t>
            </a:r>
          </a:p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reading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321D0-600C-4D13-BEC2-ABA3ABD9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09750"/>
            <a:ext cx="1714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9F2EF"/>
          </a:solidFill>
          <a:ln xmlns:a="http://schemas.openxmlformats.org/drawingml/2006/main" w="11430">
            <a:solidFill>
              <a:srgbClr val="0D5C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3. Collector 검증</a:t>
            </a:r>
          </a:p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topic == payload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1C1E3F-769A-4C1C-9C79-7C651E44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09750"/>
            <a:ext cx="1714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15C8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4. Backend 저장</a:t>
            </a:r>
          </a:p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Pydantic + SQLite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C94DFF-96A7-4B6B-9FEA-F37E4EC8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09750"/>
            <a:ext cx="1809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DDD4"/>
          </a:solidFill>
          <a:ln xmlns:a="http://schemas.openxmlformats.org/drawingml/2006/main" w="11430">
            <a:solidFill>
              <a:srgbClr val="C15D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5. Alert 판단</a:t>
            </a:r>
          </a:p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temperature threshold</a:t>
            </a:r>
          </a:p>
        </p:txBody>
      </p:sp>
      <p:cxnSp>
        <p:nvCxnSpPr>
          <p:cNvPr id="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019300" y="21717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5C5A"/>
            </a:solidFill>
            <a:prstDash val="solid"/>
          </a:ln>
        </p:spPr>
      </p:cxnSp>
      <p:cxnSp>
        <p:nvCxnSpPr>
          <p:cNvPr id="1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905250" y="21717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5C5A"/>
            </a:solidFill>
            <a:prstDash val="solid"/>
          </a:ln>
        </p:spPr>
      </p:cxnSp>
      <p:cxnSp>
        <p:nvCxnSpPr>
          <p:cNvPr id="1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81700" y="21717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5C5A"/>
            </a:solidFill>
            <a:prstDash val="solid"/>
          </a:ln>
        </p:spPr>
      </p:cxnSp>
      <p:cxnSp>
        <p:nvCxnSpPr>
          <p:cNvPr id="1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153400" y="21717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15D3A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79C618-64C1-4656-958E-253A160E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886200"/>
            <a:ext cx="1905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15C8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6. Dashboard 갱신</a:t>
            </a:r>
          </a:p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REST + WebSocket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428468-3171-4A23-A112-07A01C26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86200"/>
            <a:ext cx="209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15D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7. Replay 확인</a:t>
            </a:r>
          </a:p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related timeline + guidance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9AC330-3B5F-4BC0-B114-0EE6007E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86200"/>
            <a:ext cx="22479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11430">
            <a:solidFill>
              <a:srgbClr val="10232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8. 대응 저장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checklist + note + evidence</a:t>
            </a:r>
          </a:p>
        </p:txBody>
      </p:sp>
      <p:cxnSp>
        <p:nvCxnSpPr>
          <p:cNvPr id="16" name=""/>
          <p:cNvCxnSpPr>
            <a:stCxn xmlns:a="http://schemas.openxmlformats.org/drawingml/2006/main" id="8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2990850" y="2533650"/>
            <a:ext cx="6524625" cy="13525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15C8A"/>
            </a:solidFill>
            <a:prstDash val="solid"/>
          </a:ln>
        </p:spPr>
      </p:cxnSp>
      <p:cxnSp>
        <p:nvCxnSpPr>
          <p:cNvPr id="17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943350" y="4276725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15D3A"/>
            </a:solidFill>
            <a:prstDash val="solid"/>
          </a:ln>
        </p:spPr>
      </p:cxnSp>
      <p:cxnSp>
        <p:nvCxnSpPr>
          <p:cNvPr id="18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067550" y="4276725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15D3A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E12A49-E7DE-45AA-9EF1-9FFE7614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97917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C3A5FB-8C00-430A-8664-5E566475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76850"/>
            <a:ext cx="925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발표 시연 포인트: 온도 warning/critical event를 넣으면 alert가 생기고, replay/report/ack 흐름으로 실제 관제 업무처럼 설명할 수 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64A913-2AAA-42DF-AE9C-EEA21DA1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389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B563B7-A9C2-425C-ABB4-6F63D808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3415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6736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>
                <a:solidFill>
                  <a:srgbClr val="66736F"/>
                </a:solidFill>
                <a:latin typeface="Hiragino Sans"/>
                <a:ea typeface="Hiragino Sans"/>
                <a:cs typeface="Hiragino Sans"/>
              </a:rPr>
              <a:t>Sources: apps/backend/main.py, apps/backend/incidents.py, frontend/src/IncidentResponsePanel.tsx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970E0D-E21C-4F1F-A162-034B87C9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36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6736F"/>
                </a:solidFill>
                <a:latin typeface="Hiragino Sans"/>
                <a:ea typeface="Hiragino Sans"/>
                <a:cs typeface="Hiragino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127084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0CEEFF03-7486-412B-BB07-9CB4B653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C5A"/>
          </a:solidFill>
          <a:ln xmlns:a="http://schemas.openxmlformats.org/drawingml/2006/main" w="0">
            <a:solidFill>
              <a:srgbClr val="0D5C5A"/>
            </a:solidFill>
            <a:prstDash val="solid"/>
          </a:ln>
        </p:spPr>
      </p:sp>
      <p:sp>
        <p:nvSpPr>
          <p:cNvPr id="2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0D04B559-D763-414F-ABBC-84A02F4B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rPr>
              <a:t>CORE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2FC138-565C-4FD7-A038-9AE8CE67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8650"/>
            <a:ext cx="1009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핵심 기능은 관제 화면, 실시간성, liveness, incident response로 묶인다.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A248D-8D6B-415D-B71B-7B257E86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26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B66785-75A9-4E49-976B-D84A194D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기능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A238A0-6435-4FC4-88F0-79547FAA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00200"/>
            <a:ext cx="333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26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6A26C8-5A52-4941-815A-5153CA04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657350"/>
            <a:ext cx="318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사용자 가치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46136-55D9-4E3B-B162-F98D7240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0020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26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55B757-950A-4FCF-B795-00B575F2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57350"/>
            <a:ext cx="3848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구현 근거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80D87F-DBF4-4C20-9414-0ACA51D5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200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6F67BF-C9A6-4418-A61F-3DE946A5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1847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Realtime dashboard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8ABBBE-D47C-4D61-9D2E-35FD6972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00250"/>
            <a:ext cx="333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C3BBC2-CB57-4A05-AA61-8D5D66EA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57400"/>
            <a:ext cx="3181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방별 최신 센서값과 WebSocket 상태를 즉시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6F2772-0E5A-47E9-AC8B-08BDB383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00250"/>
            <a:ext cx="400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306850-4682-4D49-9DAB-FEC9CD8F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57400"/>
            <a:ext cx="3848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GET /api/readings/latest, WS /ws/realtime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BA22B3-4BF1-434B-82DA-7EAAF61B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200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E0FAA6-1699-4C9C-94C5-8902A48B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1847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Statistics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F4981D-F0CB-49B9-A499-0310D8EF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333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A78254-75E8-41CF-B868-1CCCEE2C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86050"/>
            <a:ext cx="3181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장치/센서/alert breakdown으로 전체 상태 요약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5D65C7-6F8B-4AE9-8193-B2807134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28900"/>
            <a:ext cx="400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E2E564-5F3E-4C6F-87D2-09017892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86050"/>
            <a:ext cx="3848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GET /api/stats, sensor_breakdown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C6728E-8529-470D-92AC-DD1EEF85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200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AB7157-BE74-489F-9526-A019B99B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14700"/>
            <a:ext cx="1847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Liveness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AE7A56-B4E8-4DAA-97CA-3E744494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57550"/>
            <a:ext cx="333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2AD8A0-E0F2-4C0E-AD77-302992E9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314700"/>
            <a:ext cx="3181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Pico와 collector/worker process offline 판단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0EC1D7-FFC3-42C5-A5ED-839B6946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57550"/>
            <a:ext cx="400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6BD5B8-7C2E-4C30-9C8B-F4DEFBFD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14700"/>
            <a:ext cx="3848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devices.last_seen_at, process_heartbeats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7C1602-6154-42BE-A874-84430DFC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200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A998AB-9890-4BEE-8F8C-DB51406D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1847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Incident replay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565CE2-8D4F-4C50-8E8D-6568D9EE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86200"/>
            <a:ext cx="333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919790-1D33-40EE-931C-A9A12DC1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943350"/>
            <a:ext cx="3181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alert 전후 timeline과 guidance를 함께 확인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872A4B-D01F-4493-99F9-0556F916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86200"/>
            <a:ext cx="400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E2AF43-2AE6-4C79-9D53-96D6181B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43350"/>
            <a:ext cx="3848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GET /api/alerts/{id}/replay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35D865-18F7-4116-8A08-B9D9D626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200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6402EE-D56A-418D-A80F-A64548AE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0"/>
            <a:ext cx="1847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Guided response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308F99-9314-4B87-BF09-D435C48E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514850"/>
            <a:ext cx="333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3B50F1-B6A7-4178-8322-58B375AD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572000"/>
            <a:ext cx="3181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checklist, note, evidence를 operator 기록으로 저장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D1F95E-93E9-4792-BA4D-6ED45368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14850"/>
            <a:ext cx="400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6ADBDB-ECF7-4A2B-B83A-13DFDF44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72000"/>
            <a:ext cx="3848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POST /api/alerts/{id}/ack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81E6550-FB01-4739-A928-D651BD57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9334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F2EF"/>
          </a:solidFill>
          <a:ln xmlns:a="http://schemas.openxmlformats.org/drawingml/2006/main" w="9525">
            <a:solidFill>
              <a:srgbClr val="CFE0D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436B3BD-A7AC-4383-8277-99DA01BA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5785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rPr>
              <a:t>차별점: dashboard가 단순 관찰에서 끝나지 않고, 대응 결과를 DB에 남기는 incident response demo로 확장됐다.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71CEAA6-35BC-4B83-BC71-BE722508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389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6B39CE2-02DC-4A70-AD39-6615F74D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3415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6736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>
                <a:solidFill>
                  <a:srgbClr val="66736F"/>
                </a:solidFill>
                <a:latin typeface="Hiragino Sans"/>
                <a:ea typeface="Hiragino Sans"/>
                <a:cs typeface="Hiragino Sans"/>
              </a:rPr>
              <a:t>Sources: frontend/src/App.tsx, frontend/src/IncidentResponsePanel.tsx, apps/backend/main.py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996C612-27DD-4A7E-AF07-9710B6F9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36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6736F"/>
                </a:solidFill>
                <a:latin typeface="Hiragino Sans"/>
                <a:ea typeface="Hiragino Sans"/>
                <a:cs typeface="Hiragino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5032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BB830F60-0670-4B32-B3EB-7EEBE48A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C5A"/>
          </a:solidFill>
          <a:ln xmlns:a="http://schemas.openxmlformats.org/drawingml/2006/main" w="0">
            <a:solidFill>
              <a:srgbClr val="0D5C5A"/>
            </a:solidFill>
            <a:prstDash val="solid"/>
          </a:ln>
        </p:spPr>
      </p:sp>
      <p:sp>
        <p:nvSpPr>
          <p:cNvPr id="2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8A941320-C918-45B9-A0AC-FA6C10D9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rPr>
              <a:t>IMPROVEMENTS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7D0E39-FDED-489B-B962-A1C486B2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865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개발 중 개선은 기능 추가보다 운영 흐름을 더 명확하게 만드는 방향이었다.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0C7D9B-42ED-4BD4-B2B4-8E989FB3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26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9558A9-AE0F-418B-AB51-445DFD7B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개선 지점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EF1AE3-3D48-4E5A-BEDB-60F9BA89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81150"/>
            <a:ext cx="3562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26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A451B1-65D3-4CBC-B598-49347D30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638300"/>
            <a:ext cx="3409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초기/문제 상태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656F94-B818-4D63-8E2D-07D6E498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581150"/>
            <a:ext cx="3562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26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8021F6-2A9E-4244-96E3-C43090F0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638300"/>
            <a:ext cx="3409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개선 결과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8CFF05-B203-4C87-A4E1-A4962E1D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C85214-D43C-47E7-A93E-0B334572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하드웨어 범위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099555-6A53-41CB-BF9E-51406F5E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81200"/>
            <a:ext cx="3562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AA2899-131A-450B-91DC-F7499F62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038350"/>
            <a:ext cx="3409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기술서에는 gas/smoke 확장 계획이 포함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50E182-423C-407C-A8A9-C349FC7E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81200"/>
            <a:ext cx="3562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8D4304-9E5E-481D-B195-D71592E3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38350"/>
            <a:ext cx="3409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발표 배선은 ENABLE_GAS=False 기준으로 명확화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7B982E-8684-43F0-8B55-23B8E441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1D590F-7326-45D2-B945-4195E804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Simulator 분리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7CEFCC-3D09-4608-A656-9D854098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71750"/>
            <a:ext cx="3562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DC3971-DCD9-4D3D-80B4-877BD326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628900"/>
            <a:ext cx="3409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실제 장치 없이도 demo가 필요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AABE32-BD71-4F62-86FD-A6940FE4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71750"/>
            <a:ext cx="3562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922A49-11F5-4828-9835-5D28C956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28900"/>
            <a:ext cx="3409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simulator와 firmware가 같은 payload schema를 유지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56D877-7226-4B9F-BF0A-F345C50D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A0945C-193E-42AC-9ADD-87A09D57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수집 품질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94DAFC-F316-4AFE-A3C8-5056CAB7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62300"/>
            <a:ext cx="3562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4FA453-795C-4E1C-AB05-9AA07824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19450"/>
            <a:ext cx="3409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topic과 payload mismatch 위험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4753E4-EBF1-46FE-A351-C5485890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62300"/>
            <a:ext cx="3562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7E569A-8589-4BB5-944B-58D85F79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19450"/>
            <a:ext cx="3409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collector에서 zone/device/sensor 일치 검증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8FE9F6-833B-4DC2-BDD4-7B2DBE1E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272481-98B6-4A6C-8747-AB3FBC62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관제 경험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3FF29E-55A5-4C46-B704-DDBF4123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52850"/>
            <a:ext cx="3562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CA5A88-13A7-4924-8FA0-7B3FCCF6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810000"/>
            <a:ext cx="3409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alert 목록만으로는 맥락 부족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FA3B19-1538-4CF9-B17A-E96CDDE9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52850"/>
            <a:ext cx="3562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88ACA2-4E0C-4CDD-8877-0F888BD8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10000"/>
            <a:ext cx="3409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replay, report, guidance, checklist 저장 추가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6E62B8-CF49-4759-9531-C88825F5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434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A23421-E248-4F2D-AF7A-2C7B1647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운영 상태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DDA351-7BA3-4BCE-AE88-229AE070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43400"/>
            <a:ext cx="3562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74EAF-C870-488E-AA86-8E96D029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00550"/>
            <a:ext cx="3409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프로세스가 죽어도 UI에서 알기 어려움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D475A1-FDFA-491C-867F-40A3921A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43400"/>
            <a:ext cx="3562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0C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42CBFB-4C13-4E3E-AEF7-2FC20871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400550"/>
            <a:ext cx="3409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collector/worker heartbeat와 liveness 표시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F2B3E2-A2D4-491D-AF0D-21B3FAF5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9525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2DDD4"/>
          </a:solidFill>
          <a:ln xmlns:a="http://schemas.openxmlformats.org/drawingml/2006/main" w="9525">
            <a:solidFill>
              <a:srgbClr val="E2B7A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F65D99C-F09C-42A5-9B7A-EE7D9CAA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15D3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C15D3A"/>
                </a:solidFill>
                <a:latin typeface="Hiragino Sans"/>
                <a:ea typeface="Hiragino Sans"/>
                <a:cs typeface="Hiragino Sans"/>
              </a:rPr>
              <a:t>핵심 판단: 센서를 많이 붙이는 것보다, 들어온 데이터가 신뢰 가능하고 대응 기록까지 남는 구조가 발표 완성도를 높인다.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04D535D-911E-4821-95F0-44D95D56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389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F0806C2-C975-4D69-A7B9-8A936371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3415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6736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>
                <a:solidFill>
                  <a:srgbClr val="66736F"/>
                </a:solidFill>
                <a:latin typeface="Hiragino Sans"/>
                <a:ea typeface="Hiragino Sans"/>
                <a:cs typeface="Hiragino Sans"/>
              </a:rPr>
              <a:t>Sources: firmware/pico2w/config.example.py, apps/collector/mqtt_parser.py, apps/backend/incidents.py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81D5073-6EF7-4448-90A9-F3440B55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36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6736F"/>
                </a:solidFill>
                <a:latin typeface="Hiragino Sans"/>
                <a:ea typeface="Hiragino Sans"/>
                <a:cs typeface="Hiragino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065057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F1098BCF-87A7-4ED7-85D8-21B3540B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C5A"/>
          </a:solidFill>
          <a:ln xmlns:a="http://schemas.openxmlformats.org/drawingml/2006/main" w="0">
            <a:solidFill>
              <a:srgbClr val="0D5C5A"/>
            </a:solidFill>
            <a:prstDash val="solid"/>
          </a:ln>
        </p:spPr>
      </p:sp>
      <p:sp>
        <p:nvSpPr>
          <p:cNvPr id="2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A7ED53D5-0AAA-42C2-8E2F-11D67E4D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rPr>
              <a:t>DEVELOPMENT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61E7FE-859B-44DA-9D51-B15CFC95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865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검증은 parsing, persistence, firmware helper, UI build를 나눠서 확인했다.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91E6E8-68ED-44A3-8CAB-9DA0143C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62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0">
            <a:solidFill>
              <a:srgbClr val="10232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6A10A2-2894-47FF-95C7-795C1ECA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FE9D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BFE9DF"/>
                </a:solidFill>
                <a:latin typeface="Hiragino Sans"/>
                <a:ea typeface="Hiragino Sans"/>
                <a:cs typeface="Hiragino Sans"/>
              </a:rPr>
              <a:t>검증 명령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C68D5D-6C86-40AA-BB18-660B439E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2885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.venv/bin/python -m pytest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npm --prefix frontend run build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E70F3A-8F3B-45E3-81AD-53424592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209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B12F46-A76E-44B6-AF0B-8FC6C357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24025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rPr>
              <a:t>MQTT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B6518B-D31E-4233-8022-003588DF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859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6736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>
                <a:solidFill>
                  <a:srgbClr val="66736F"/>
                </a:solidFill>
                <a:latin typeface="Hiragino Sans"/>
                <a:ea typeface="Hiragino Sans"/>
                <a:cs typeface="Hiragino Sans"/>
              </a:rPr>
              <a:t>topic parser, payload mismatch rejection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0DFE5E-F370-41F5-BA8C-9DAEE679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19250"/>
            <a:ext cx="209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51D03-1D8E-42E9-BE54-82D4EEF8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724025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rPr>
              <a:t>DB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B83F19-57E2-412C-83DD-9C528D41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859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6736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>
                <a:solidFill>
                  <a:srgbClr val="66736F"/>
                </a:solidFill>
                <a:latin typeface="Hiragino Sans"/>
                <a:ea typeface="Hiragino Sans"/>
                <a:cs typeface="Hiragino Sans"/>
              </a:rPr>
              <a:t>SQLite repository and incident records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B1E283-ECB5-4386-B672-67D5B1A7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90800"/>
            <a:ext cx="209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43C4DE-F230-4864-AF1C-DC986EA7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95575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15D3A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C15D3A"/>
                </a:solidFill>
                <a:latin typeface="Hiragino Sans"/>
                <a:ea typeface="Hiragino Sans"/>
                <a:cs typeface="Hiragino Sans"/>
              </a:rPr>
              <a:t>Pico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21755D-5FF7-4FB0-9199-B9062F3F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5752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6736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>
                <a:solidFill>
                  <a:srgbClr val="66736F"/>
                </a:solidFill>
                <a:latin typeface="Hiragino Sans"/>
                <a:ea typeface="Hiragino Sans"/>
                <a:cs typeface="Hiragino Sans"/>
              </a:rPr>
              <a:t>firmware payload and sensor scaling helpers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1047DA-8910-4EBA-9610-305B14F1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90800"/>
            <a:ext cx="209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1C407A-9A2F-4D6D-987E-3694631B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95575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15C8A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315C8A"/>
                </a:solidFill>
                <a:latin typeface="Hiragino Sans"/>
                <a:ea typeface="Hiragino Sans"/>
                <a:cs typeface="Hiragino Sans"/>
              </a:rPr>
              <a:t>UI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4CDE59-CAB0-48F9-B76F-7D5C1824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5752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6736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>
                <a:solidFill>
                  <a:srgbClr val="66736F"/>
                </a:solidFill>
                <a:latin typeface="Hiragino Sans"/>
                <a:ea typeface="Hiragino Sans"/>
                <a:cs typeface="Hiragino Sans"/>
              </a:rPr>
              <a:t>React/Vite production build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A7BF24-2035-44EC-8C59-873B599F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rPr>
              <a:t>개발 흐름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DF4AFC-AB9F-45BC-8E58-D087E074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148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5C5A"/>
          </a:solidFill>
          <a:ln xmlns:a="http://schemas.openxmlformats.org/drawingml/2006/main" w="0">
            <a:solidFill>
              <a:srgbClr val="0D5C5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C55E99-736D-4435-85C6-957AAC96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29100"/>
            <a:ext cx="906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먼저 SensorEvent와 topic 규약을 고정해 backend와 dashboard 변경을 줄였다.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9174A8-5D26-48D2-86E3-C1109754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148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5C5A"/>
          </a:solidFill>
          <a:ln xmlns:a="http://schemas.openxmlformats.org/drawingml/2006/main" w="0">
            <a:solidFill>
              <a:srgbClr val="0D5C5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06B41D-00D5-4AAC-94EA-CC00972F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9150"/>
            <a:ext cx="906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실제 hardware bring-up 전 simulator로 end-to-end demo를 안정화했다.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AAE726-E3D8-46D6-82ED-32E63B0C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149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5C5A"/>
          </a:solidFill>
          <a:ln xmlns:a="http://schemas.openxmlformats.org/drawingml/2006/main" w="0">
            <a:solidFill>
              <a:srgbClr val="0D5C5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DD9630-455C-4111-AAD8-135ECA08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29200"/>
            <a:ext cx="906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alert 이후에는 replay/report/ack API를 추가해 운영 흐름을 닫았다.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E7D7A1-E664-4104-BCAE-D7E056B8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149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5C5A"/>
          </a:solidFill>
          <a:ln xmlns:a="http://schemas.openxmlformats.org/drawingml/2006/main" w="0">
            <a:solidFill>
              <a:srgbClr val="0D5C5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98DABE-96EF-4F0F-8E74-70B5E9A4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29250"/>
            <a:ext cx="906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마지막으로 통계 화면과 LLM placeholder를 추가해 다음 확장 지점을 남겼다.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5CAD99-62C9-4098-8A08-7A53B561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389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45435B-FC25-44FB-8FE4-8C29F4C0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3415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6736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>
                <a:solidFill>
                  <a:srgbClr val="66736F"/>
                </a:solidFill>
                <a:latin typeface="Hiragino Sans"/>
                <a:ea typeface="Hiragino Sans"/>
                <a:cs typeface="Hiragino Sans"/>
              </a:rPr>
              <a:t>Sources: README.ko.md, tests/, docs/superpowers/specs/2026-06-05-statistics-graphs-and-llm-placeholder-design.md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8BED66-FCD7-4C3A-9B40-A0E9C045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36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6736F"/>
                </a:solidFill>
                <a:latin typeface="Hiragino Sans"/>
                <a:ea typeface="Hiragino Sans"/>
                <a:cs typeface="Hiragino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227658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3178ADE0-5CC0-4B2E-9966-B3D3198B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C5A"/>
          </a:solidFill>
          <a:ln xmlns:a="http://schemas.openxmlformats.org/drawingml/2006/main" w="0">
            <a:solidFill>
              <a:srgbClr val="0D5C5A"/>
            </a:solidFill>
            <a:prstDash val="solid"/>
          </a:ln>
        </p:spPr>
      </p:sp>
      <p:sp>
        <p:nvSpPr>
          <p:cNvPr id="2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E13AC47C-05D9-42EE-BD21-74D45201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rPr>
              <a:t>FUTURE LLM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8D65A7-4A25-4AEE-BBED-8FFAD135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865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LLM은 센서 수집 뒤가 아니라, 구조화된 incident context 위에 얹어야 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C80990-1707-4A6E-A197-00516E7A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22479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D5C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Structured context</a:t>
            </a:r>
          </a:p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/api/stats llm_context</a:t>
            </a:r>
          </a:p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alerts, replay, report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063F06-FC32-4DBB-B50E-7AEF3E03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23431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A2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Knowledge base</a:t>
            </a:r>
          </a:p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README, setup, wiring docs</a:t>
            </a:r>
          </a:p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incident guidance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E574D6-98FA-4B91-9CDD-20ED7B30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00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11430">
            <a:solidFill>
              <a:srgbClr val="10232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LLM Assistant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summary, triage,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operator Q&amp;A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212CFF-CA4B-40AB-8CB5-7D305731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00250"/>
            <a:ext cx="18859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9F2EF"/>
          </a:solidFill>
          <a:ln xmlns:a="http://schemas.openxmlformats.org/drawingml/2006/main" w="11430">
            <a:solidFill>
              <a:srgbClr val="0D5C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Dashboard panel</a:t>
            </a:r>
          </a:p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explain current risk</a:t>
            </a:r>
          </a:p>
          <a:p xmlns:a="http://schemas.openxmlformats.org/drawingml/2006/main">
            <a:pPr algn="ctr">
              <a:def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suggest next action</a:t>
            </a:r>
          </a:p>
        </p:txBody>
      </p:sp>
      <p:cxnSp>
        <p:nvCxnSpPr>
          <p:cNvPr id="8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952750" y="2457450"/>
            <a:ext cx="3867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5C5A"/>
            </a:solidFill>
            <a:prstDash val="solid"/>
          </a:ln>
        </p:spPr>
      </p:cxnSp>
      <p:cxnSp>
        <p:nvCxnSpPr>
          <p:cNvPr id="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057900" y="24574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5A23A"/>
            </a:solidFill>
            <a:prstDash val="solid"/>
          </a:ln>
        </p:spPr>
      </p:cxnSp>
      <p:cxnSp>
        <p:nvCxnSpPr>
          <p:cNvPr id="1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915400" y="2457450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15D3A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6CD4FE-9A93-4A96-8E12-3CC9AED0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30289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9F2EF"/>
          </a:solidFill>
          <a:ln xmlns:a="http://schemas.openxmlformats.org/drawingml/2006/main" w="9525">
            <a:solidFill>
              <a:srgbClr val="CFE0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AA0D48-68E8-4DAA-9C3B-0CF94D01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052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rPr>
              <a:t>1단계: 요약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C3A5A5-1DC3-42D9-AE8A-9F0413F3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910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5C5A"/>
          </a:solidFill>
          <a:ln xmlns:a="http://schemas.openxmlformats.org/drawingml/2006/main" w="0">
            <a:solidFill>
              <a:srgbClr val="0D5C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2CAAA2-D98B-480C-837B-4D20E774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05300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현재 safety 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F54BCC-137D-4A67-8D62-B97493C1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386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5C5A"/>
          </a:solidFill>
          <a:ln xmlns:a="http://schemas.openxmlformats.org/drawingml/2006/main" w="0">
            <a:solidFill>
              <a:srgbClr val="0D5C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5889D9-409A-4194-A404-ACF97A39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52950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offline/stale 원인 후보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371EB7-7BE2-41F0-A32A-D3441E16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863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5C5A"/>
          </a:solidFill>
          <a:ln xmlns:a="http://schemas.openxmlformats.org/drawingml/2006/main" w="0">
            <a:solidFill>
              <a:srgbClr val="0D5C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FFE5C1-4280-474B-AC8D-7EFCC6FA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open alert 우선순위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FA28C1-4DF9-4487-9FAA-AC85217F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38550"/>
            <a:ext cx="30289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3E4BD"/>
          </a:solidFill>
          <a:ln xmlns:a="http://schemas.openxmlformats.org/drawingml/2006/main" w="9525">
            <a:solidFill>
              <a:srgbClr val="E2C77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16AA81-A7BC-46AD-AD8D-B3877CC9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052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A5A12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7A5A12"/>
                </a:solidFill>
                <a:latin typeface="Hiragino Sans"/>
                <a:ea typeface="Hiragino Sans"/>
                <a:cs typeface="Hiragino Sans"/>
              </a:rPr>
              <a:t>2단계: 대응 보조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9805EA-6788-46F1-89BB-2EFAC200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910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5A12"/>
          </a:solidFill>
          <a:ln xmlns:a="http://schemas.openxmlformats.org/drawingml/2006/main" w="0">
            <a:solidFill>
              <a:srgbClr val="7A5A1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51D360-883C-472A-B819-EB4F3EE9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305300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guidance checklist 설명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1381E1-72BA-4233-AA2B-939404DF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386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5A12"/>
          </a:solidFill>
          <a:ln xmlns:a="http://schemas.openxmlformats.org/drawingml/2006/main" w="0">
            <a:solidFill>
              <a:srgbClr val="7A5A1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6680D7-5AB3-48D7-B90F-35F664E5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552950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operator note 초안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7B2FC5-C557-479C-A5A5-BAAB8184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863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5A12"/>
          </a:solidFill>
          <a:ln xmlns:a="http://schemas.openxmlformats.org/drawingml/2006/main" w="0">
            <a:solidFill>
              <a:srgbClr val="7A5A1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DF2819-57C5-45DD-91CC-1403D009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00600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incident report 자연어화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979890-768D-4FEE-AA9B-A22B37CF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38550"/>
            <a:ext cx="30289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2DDD4"/>
          </a:solidFill>
          <a:ln xmlns:a="http://schemas.openxmlformats.org/drawingml/2006/main" w="9525">
            <a:solidFill>
              <a:srgbClr val="E2B7A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1FE378-7496-48BC-A508-AEFB8359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052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15D3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C15D3A"/>
                </a:solidFill>
                <a:latin typeface="Hiragino Sans"/>
                <a:ea typeface="Hiragino Sans"/>
                <a:cs typeface="Hiragino Sans"/>
              </a:rPr>
              <a:t>3단계: 안전장치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3DCCEE-3BB7-4B22-B1D4-AB6D432C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910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15D3A"/>
          </a:solidFill>
          <a:ln xmlns:a="http://schemas.openxmlformats.org/drawingml/2006/main" w="0">
            <a:solidFill>
              <a:srgbClr val="C15D3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92BE82-DB3E-47AA-85C7-A8E14970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05300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근거 없는 센서 판단 금지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5CD2D1-590C-4AA6-B4B9-80F3A4A7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386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15D3A"/>
          </a:solidFill>
          <a:ln xmlns:a="http://schemas.openxmlformats.org/drawingml/2006/main" w="0">
            <a:solidFill>
              <a:srgbClr val="C15D3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604535-5D4E-4110-8C09-C8CD4C0F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52950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source/event id 표시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C3B770-1C96-4F9F-A2AD-9641FB96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863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15D3A"/>
          </a:solidFill>
          <a:ln xmlns:a="http://schemas.openxmlformats.org/drawingml/2006/main" w="0">
            <a:solidFill>
              <a:srgbClr val="C15D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B2BE63-B3BC-40AC-B07A-38462BDC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00600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위험 대응은 checklist 기반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4CC03C-84AE-45C7-93B5-979DA2F6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66736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66736F"/>
                </a:solidFill>
                <a:latin typeface="Hiragino Sans"/>
                <a:ea typeface="Hiragino Sans"/>
                <a:cs typeface="Hiragino Sans"/>
              </a:rPr>
              <a:t>현재 상태: 실제 GPT API 연동은 범위 밖이고, frontend에는 비동작 LLM placeholder만 존재한다.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DF2CF4-983E-481E-B0A0-7922C379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389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3284DB-29FD-4347-9A1D-70CAAC3D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3415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6736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>
                <a:solidFill>
                  <a:srgbClr val="66736F"/>
                </a:solidFill>
                <a:latin typeface="Hiragino Sans"/>
                <a:ea typeface="Hiragino Sans"/>
                <a:cs typeface="Hiragino Sans"/>
              </a:rPr>
              <a:t>Sources: apps/backend/db/sqlite_repository.py stats.llm_context, docs/superpowers/specs/2026-06-05-statistics-graphs-and-llm-placeholder-design.md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314CC7-35FE-40DF-A987-BF4B4A73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36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6736F"/>
                </a:solidFill>
                <a:latin typeface="Hiragino Sans"/>
                <a:ea typeface="Hiragino Sans"/>
                <a:cs typeface="Hiragino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649250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23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717EC1-7EDA-40C5-AEDC-5C9D87BD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8F"/>
          </a:solidFill>
          <a:ln xmlns:a="http://schemas.openxmlformats.org/drawingml/2006/main" w="0">
            <a:solidFill>
              <a:srgbClr val="2D9B8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C3B897-17F8-4176-81BB-EF67CF1D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809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발표는 실제 데이터 한 건이 운영 기록으로 닫히는 장면으로 끝낸다.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8446B3-2B3F-43BC-8ABE-74BA95BB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57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FE9D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BFE9DF"/>
                </a:solidFill>
                <a:latin typeface="Hiragino Sans"/>
                <a:ea typeface="Hiragino Sans"/>
                <a:cs typeface="Hiragino Sans"/>
              </a:rPr>
              <a:t>5-minute demo route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CB10CC-3B83-4293-BD5C-F24002DD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1428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3F40"/>
          </a:solidFill>
          <a:ln xmlns:a="http://schemas.openxmlformats.org/drawingml/2006/main" w="11430">
            <a:solidFill>
              <a:srgbClr val="275B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dashboard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open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334BDA-F490-4384-87C6-DFE02026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19400"/>
            <a:ext cx="1428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3F40"/>
          </a:solidFill>
          <a:ln xmlns:a="http://schemas.openxmlformats.org/drawingml/2006/main" w="11430">
            <a:solidFill>
              <a:srgbClr val="275B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send sensor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event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505A50-B0D6-48CD-A8BF-56645AEE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19400"/>
            <a:ext cx="1428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3C2922"/>
          </a:solidFill>
          <a:ln xmlns:a="http://schemas.openxmlformats.org/drawingml/2006/main" w="11430">
            <a:solidFill>
              <a:srgbClr val="7E483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alert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appears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0EC580-4937-4AE3-B95B-FB73901D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19400"/>
            <a:ext cx="1428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3C2922"/>
          </a:solidFill>
          <a:ln xmlns:a="http://schemas.openxmlformats.org/drawingml/2006/main" w="11430">
            <a:solidFill>
              <a:srgbClr val="7E483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open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replay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8D2584-6363-496D-8525-E70DEBFF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1940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3F40"/>
          </a:solidFill>
          <a:ln xmlns:a="http://schemas.openxmlformats.org/drawingml/2006/main" w="11430">
            <a:solidFill>
              <a:srgbClr val="275B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5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ack with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evidence</a:t>
            </a:r>
          </a:p>
        </p:txBody>
      </p:sp>
      <p:cxnSp>
        <p:nvCxnSpPr>
          <p:cNvPr id="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152650" y="325755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9B8F"/>
            </a:solidFill>
            <a:prstDash val="solid"/>
          </a:ln>
        </p:spPr>
      </p:cxnSp>
      <p:cxnSp>
        <p:nvCxnSpPr>
          <p:cNvPr id="1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095750" y="32575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15D3A"/>
            </a:solidFill>
            <a:prstDash val="solid"/>
          </a:ln>
        </p:spPr>
      </p:cxnSp>
      <p:cxnSp>
        <p:nvCxnSpPr>
          <p:cNvPr id="1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134100" y="32575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15D3A"/>
            </a:solidFill>
            <a:prstDash val="solid"/>
          </a:ln>
        </p:spPr>
      </p:cxnSp>
      <p:cxnSp>
        <p:nvCxnSpPr>
          <p:cNvPr id="1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172450" y="32575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9B8F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26849D-676D-4129-BB7E-22B02A99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33900"/>
            <a:ext cx="8096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FA2BE9-0B16-4C3A-9256-6BB2AB88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625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D5C5A"/>
                </a:solidFill>
                <a:latin typeface="Hiragino Sans"/>
                <a:ea typeface="Hiragino Sans"/>
                <a:cs typeface="Hiragino Sans"/>
              </a:rPr>
              <a:t>결론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6D2DFF-A8C8-40ED-BBDB-89A42A6A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4345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72124"/>
                </a:solidFill>
                <a:latin typeface="Hiragino Sans"/>
                <a:ea typeface="Hiragino Sans"/>
                <a:cs typeface="Hiragino Sans"/>
              </a:rPr>
              <a:t>Pico SafeRoom은 작은 센서 프로젝트를 수집, 검증, 저장, 실시간 관제, 대응 기록까지 이어지는 안전 운영 시스템으로 확장했다.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347C6B-F545-4F0D-B982-28FECC9E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389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091B65-DAEC-4F08-BA12-75487B05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3415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6736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>
                <a:solidFill>
                  <a:srgbClr val="66736F"/>
                </a:solidFill>
                <a:latin typeface="Hiragino Sans"/>
                <a:ea typeface="Hiragino Sans"/>
                <a:cs typeface="Hiragino Sans"/>
              </a:rPr>
              <a:t>Sources: README.ko.md, doc/project_technical_spec_2026-06-05.md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9AFB15-6F7F-4CBD-951D-37CE29C5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36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6736F"/>
                </a:solidFill>
                <a:latin typeface="Hiragino Sans"/>
                <a:ea typeface="Hiragino Sans"/>
                <a:cs typeface="Hiragino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256522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2026-06-05T05:18:00.6000000Z</dcterms:created>
  <dcterms:modified xsi:type="dcterms:W3CDTF">2026-06-05T05:18:00.6000000Z</dcterms:modified>
</coreProperties>
</file>